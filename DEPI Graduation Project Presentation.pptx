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328" r:id="rId2"/>
    <p:sldId id="278" r:id="rId3"/>
    <p:sldId id="279" r:id="rId4"/>
    <p:sldId id="280" r:id="rId5"/>
    <p:sldId id="281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302" r:id="rId14"/>
    <p:sldId id="303" r:id="rId15"/>
    <p:sldId id="305" r:id="rId16"/>
    <p:sldId id="306" r:id="rId17"/>
    <p:sldId id="321" r:id="rId18"/>
    <p:sldId id="307" r:id="rId19"/>
    <p:sldId id="308" r:id="rId20"/>
    <p:sldId id="309" r:id="rId21"/>
    <p:sldId id="310" r:id="rId22"/>
    <p:sldId id="311" r:id="rId23"/>
    <p:sldId id="314" r:id="rId24"/>
    <p:sldId id="317" r:id="rId25"/>
    <p:sldId id="320" r:id="rId26"/>
    <p:sldId id="304" r:id="rId27"/>
    <p:sldId id="291" r:id="rId28"/>
    <p:sldId id="292" r:id="rId29"/>
    <p:sldId id="298" r:id="rId30"/>
    <p:sldId id="323" r:id="rId31"/>
    <p:sldId id="293" r:id="rId32"/>
    <p:sldId id="294" r:id="rId33"/>
    <p:sldId id="324" r:id="rId34"/>
    <p:sldId id="295" r:id="rId35"/>
    <p:sldId id="296" r:id="rId36"/>
    <p:sldId id="325" r:id="rId37"/>
    <p:sldId id="297" r:id="rId38"/>
    <p:sldId id="260" r:id="rId39"/>
    <p:sldId id="265" r:id="rId40"/>
    <p:sldId id="264" r:id="rId41"/>
    <p:sldId id="263" r:id="rId42"/>
    <p:sldId id="301" r:id="rId43"/>
    <p:sldId id="262" r:id="rId44"/>
    <p:sldId id="327" r:id="rId45"/>
    <p:sldId id="329" r:id="rId46"/>
  </p:sldIdLst>
  <p:sldSz cx="12192000" cy="6858000"/>
  <p:notesSz cx="6858000" cy="9144000"/>
  <p:embeddedFontLst>
    <p:embeddedFont>
      <p:font typeface="Poppins Black" panose="00000A00000000000000" pitchFamily="2" charset="0"/>
      <p:bold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3EACE-0CBE-7C96-AEA8-57FF070205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02B0AAE-111F-24F8-C50A-B15E1468893F}"/>
              </a:ext>
            </a:extLst>
          </p:cNvPr>
          <p:cNvSpPr txBox="1">
            <a:spLocks/>
          </p:cNvSpPr>
          <p:nvPr/>
        </p:nvSpPr>
        <p:spPr>
          <a:xfrm>
            <a:off x="7904447" y="5559251"/>
            <a:ext cx="3196172" cy="7970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Mohamed Ayman Afifi</a:t>
            </a:r>
          </a:p>
          <a:p>
            <a:pPr algn="ctr"/>
            <a:r>
              <a:rPr lang="en-US" altLang="en-US" sz="2400" dirty="0">
                <a:solidFill>
                  <a:schemeClr val="bg1"/>
                </a:solidFill>
              </a:rPr>
              <a:t>10 / 12 / 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F1280F-574D-FF68-0AE7-3429E8B5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EDFC17C-42AA-0A27-9AA6-D811B69FE55E}"/>
              </a:ext>
            </a:extLst>
          </p:cNvPr>
          <p:cNvSpPr txBox="1">
            <a:spLocks/>
          </p:cNvSpPr>
          <p:nvPr/>
        </p:nvSpPr>
        <p:spPr>
          <a:xfrm>
            <a:off x="8090719" y="5730614"/>
            <a:ext cx="3782962" cy="7970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GB" altLang="en-US" sz="2400" dirty="0">
                <a:solidFill>
                  <a:schemeClr val="bg1"/>
                </a:solidFill>
                <a:latin typeface="Poppins Black" panose="020B0502040204020203" pitchFamily="2" charset="0"/>
                <a:cs typeface="Poppins Black" panose="020B0502040204020203" pitchFamily="2" charset="0"/>
                <a:sym typeface="+mn-ea"/>
              </a:rPr>
              <a:t>Mohamed Ayman Afifi</a:t>
            </a:r>
          </a:p>
          <a:p>
            <a:pPr algn="ctr"/>
            <a:r>
              <a:rPr lang="en-GB" altLang="en-US" sz="2400" dirty="0">
                <a:solidFill>
                  <a:schemeClr val="bg1"/>
                </a:solidFill>
                <a:latin typeface="Poppins Black" panose="020B0502040204020203" pitchFamily="2" charset="0"/>
                <a:cs typeface="Poppins Black" panose="020B0502040204020203" pitchFamily="2" charset="0"/>
                <a:sym typeface="+mn-ea"/>
              </a:rPr>
              <a:t>10 / 12 / 2025</a:t>
            </a:r>
            <a:endParaRPr lang="en-US" altLang="en-US" sz="2400" dirty="0">
              <a:solidFill>
                <a:schemeClr val="bg1"/>
              </a:solidFill>
              <a:latin typeface="Poppins Black" panose="020B0502040204020203" pitchFamily="2" charset="0"/>
              <a:cs typeface="Poppins Black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20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285"/>
            <a:ext cx="10515600" cy="995680"/>
          </a:xfrm>
        </p:spPr>
        <p:txBody>
          <a:bodyPr/>
          <a:lstStyle/>
          <a:p>
            <a:r>
              <a:rPr lang="en-GB" altLang="en-US" sz="4000">
                <a:sym typeface="+mn-ea"/>
              </a:rPr>
              <a:t>Problem Description</a:t>
            </a:r>
            <a:endParaRPr lang="en-US" alt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917315"/>
          </a:xfrm>
        </p:spPr>
        <p:txBody>
          <a:bodyPr>
            <a:noAutofit/>
          </a:bodyPr>
          <a:lstStyle/>
          <a:p>
            <a:r>
              <a:rPr lang="en-US" altLang="en-US">
                <a:sym typeface="+mn-ea"/>
              </a:rPr>
              <a:t>Lending companies face significant challenges when assessing the creditworthiness of customers, especially those with limited or no credit history. Without clear insights into a customer’s financial behaviour, institutions risk either approving loans to high-risk borrowers or rejecting reliable clients. </a:t>
            </a:r>
            <a:endParaRPr lang="en-US" altLang="en-US"/>
          </a:p>
          <a:p>
            <a:r>
              <a:rPr lang="en-US" altLang="en-US">
                <a:sym typeface="+mn-ea"/>
              </a:rPr>
              <a:t>Both scenarios negatively impact business performance and financial stability.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2412980" y="58273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285"/>
            <a:ext cx="10515600" cy="995680"/>
          </a:xfrm>
        </p:spPr>
        <p:txBody>
          <a:bodyPr/>
          <a:lstStyle/>
          <a:p>
            <a:r>
              <a:rPr lang="en-GB" altLang="en-US" sz="4000">
                <a:sym typeface="+mn-ea"/>
              </a:rPr>
              <a:t>Overview of the Proposed Solution</a:t>
            </a:r>
            <a:endParaRPr lang="en-US" alt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917315"/>
          </a:xfrm>
        </p:spPr>
        <p:txBody>
          <a:bodyPr>
            <a:noAutofit/>
          </a:bodyPr>
          <a:lstStyle/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>
                <a:sym typeface="+mn-ea"/>
              </a:rPr>
              <a:t>The project uses Exploratory Data Analysis to study customer demographics, financial profile &amp; historical behaviour</a:t>
            </a:r>
            <a:r>
              <a:rPr lang="en-GB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to uncover patterns related to loan defaults. By analyzing key features (such as loan history, credit behaviour &amp;</a:t>
            </a:r>
            <a:r>
              <a:rPr lang="en-GB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repayment patterns) the solution identifies the factors that associates strongly with default risk</a:t>
            </a:r>
            <a:endParaRPr lang="en-US" altLang="en-US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altLang="en-US">
                <a:sym typeface="+mn-ea"/>
              </a:rPr>
              <a:t>These Insights help organizations make data driven decisions on loan approval, risk classification &amp; policy adjustments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2412980" y="58273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285"/>
            <a:ext cx="10515600" cy="995680"/>
          </a:xfrm>
        </p:spPr>
        <p:txBody>
          <a:bodyPr/>
          <a:lstStyle/>
          <a:p>
            <a:r>
              <a:rPr lang="en-GB" altLang="en-US" sz="4000" dirty="0">
                <a:sym typeface="+mn-ea"/>
              </a:rPr>
              <a:t>End Users</a:t>
            </a:r>
            <a:endParaRPr lang="en-US" alt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91731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GB" altLang="en-US" dirty="0">
                <a:sym typeface="+mn-ea"/>
              </a:rPr>
              <a:t>For this problem, the key end users are:</a:t>
            </a:r>
            <a:endParaRPr lang="en-GB" altLang="en-US" dirty="0"/>
          </a:p>
          <a:p>
            <a:pPr marL="628650" indent="-514350">
              <a:buAutoNum type="arabicPeriod"/>
            </a:pPr>
            <a:r>
              <a:rPr lang="en-GB" altLang="en-US" dirty="0">
                <a:sym typeface="+mn-ea"/>
              </a:rPr>
              <a:t>Loan Officers &amp; Credit Analysts: Responsible for reviewing applications and deciding who gets approved</a:t>
            </a:r>
            <a:endParaRPr lang="en-GB" altLang="en-US" dirty="0"/>
          </a:p>
          <a:p>
            <a:pPr marL="628650" indent="-514350">
              <a:buAutoNum type="arabicPeriod"/>
            </a:pPr>
            <a:r>
              <a:rPr lang="en-GB" altLang="en-US" dirty="0">
                <a:sym typeface="+mn-ea"/>
              </a:rPr>
              <a:t>Risk Management Teams: Focus on </a:t>
            </a:r>
            <a:r>
              <a:rPr lang="en-GB" altLang="en-US" dirty="0" err="1">
                <a:sym typeface="+mn-ea"/>
              </a:rPr>
              <a:t>i</a:t>
            </a:r>
            <a:r>
              <a:rPr lang="en-US" altLang="en-US" dirty="0" err="1">
                <a:sym typeface="+mn-ea"/>
              </a:rPr>
              <a:t>dentifying</a:t>
            </a:r>
            <a:r>
              <a:rPr lang="en-US" altLang="en-US" dirty="0">
                <a:sym typeface="+mn-ea"/>
              </a:rPr>
              <a:t> high-risk customers and reducing default rates.</a:t>
            </a:r>
            <a:endParaRPr lang="en-US" altLang="en-US" dirty="0"/>
          </a:p>
          <a:p>
            <a:pPr marL="628650" indent="-514350">
              <a:buAutoNum type="arabicPeriod"/>
            </a:pPr>
            <a:r>
              <a:rPr lang="en-US" altLang="en-US" dirty="0">
                <a:sym typeface="+mn-ea"/>
              </a:rPr>
              <a:t>Business Managers &amp; Executives</a:t>
            </a:r>
            <a:r>
              <a:rPr lang="en-GB" altLang="en-US" dirty="0">
                <a:sym typeface="+mn-ea"/>
              </a:rPr>
              <a:t>: N</a:t>
            </a:r>
            <a:r>
              <a:rPr lang="en-US" altLang="en-US" dirty="0" err="1">
                <a:sym typeface="+mn-ea"/>
              </a:rPr>
              <a:t>eed</a:t>
            </a:r>
            <a:r>
              <a:rPr lang="en-US" altLang="en-US" dirty="0">
                <a:sym typeface="+mn-ea"/>
              </a:rPr>
              <a:t> insights to adjust lending policies, interest rates, and business strategies.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12412980" y="58273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64285"/>
            <a:ext cx="10515600" cy="995680"/>
          </a:xfrm>
        </p:spPr>
        <p:txBody>
          <a:bodyPr/>
          <a:lstStyle/>
          <a:p>
            <a:r>
              <a:rPr lang="en-US" altLang="en-US" sz="4000">
                <a:sym typeface="+mn-ea"/>
              </a:rPr>
              <a:t>DataSet Overview </a:t>
            </a:r>
            <a:endParaRPr lang="en-US" alt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91731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>
                <a:sym typeface="+mn-ea"/>
              </a:rPr>
              <a:t>Dataset Source: Kaggle – Loan Defaulter Dataset</a:t>
            </a:r>
            <a:endParaRPr lang="en-US" altLang="en-US"/>
          </a:p>
          <a:p>
            <a:pPr marL="114300" indent="0">
              <a:buNone/>
            </a:pPr>
            <a:r>
              <a:rPr lang="en-US" altLang="en-US">
                <a:sym typeface="+mn-ea"/>
              </a:rPr>
              <a:t>The dataset consists of two tables:</a:t>
            </a:r>
            <a:endParaRPr lang="en-US" altLang="en-US"/>
          </a:p>
          <a:p>
            <a:pPr marL="114300" indent="0">
              <a:buNone/>
            </a:pPr>
            <a:r>
              <a:rPr lang="en-GB" altLang="en-US">
                <a:sym typeface="+mn-ea"/>
              </a:rPr>
              <a:t>1. </a:t>
            </a:r>
            <a:r>
              <a:rPr lang="en-US" altLang="en-US">
                <a:sym typeface="+mn-ea"/>
              </a:rPr>
              <a:t>Previous Application Data</a:t>
            </a:r>
            <a:r>
              <a:rPr lang="en-GB" altLang="en-US">
                <a:sym typeface="+mn-ea"/>
              </a:rPr>
              <a:t>: </a:t>
            </a:r>
            <a:r>
              <a:rPr lang="en-US" altLang="en-US">
                <a:sym typeface="+mn-ea"/>
              </a:rPr>
              <a:t>37 features Contain</a:t>
            </a:r>
            <a:r>
              <a:rPr lang="en-GB" altLang="en-US">
                <a:sym typeface="+mn-ea"/>
              </a:rPr>
              <a:t>ing</a:t>
            </a:r>
            <a:r>
              <a:rPr lang="en-US" altLang="en-US">
                <a:sym typeface="+mn-ea"/>
              </a:rPr>
              <a:t> information about the client’s previous loan applications, including:</a:t>
            </a:r>
            <a:endParaRPr lang="en-US" altLang="en-US"/>
          </a:p>
          <a:p>
            <a:r>
              <a:rPr lang="en-US" altLang="en-US">
                <a:sym typeface="+mn-ea"/>
              </a:rPr>
              <a:t>Customer demographics (age, gender, occupation)</a:t>
            </a:r>
            <a:endParaRPr lang="en-US" altLang="en-US"/>
          </a:p>
          <a:p>
            <a:r>
              <a:rPr lang="en-US" altLang="en-US">
                <a:sym typeface="+mn-ea"/>
              </a:rPr>
              <a:t>Loan performance &amp; repayment history</a:t>
            </a:r>
            <a:endParaRPr lang="en-US" altLang="en-US"/>
          </a:p>
          <a:p>
            <a:r>
              <a:rPr lang="en-US" altLang="en-US">
                <a:sym typeface="+mn-ea"/>
              </a:rPr>
              <a:t>Credit behaviour and previous loan outcomes</a:t>
            </a:r>
            <a:endParaRPr lang="en-US" altLang="en-US"/>
          </a:p>
          <a:p>
            <a:pPr marL="114300" indent="0">
              <a:buNone/>
            </a:pPr>
            <a:r>
              <a:rPr lang="en-US" altLang="en-US">
                <a:sym typeface="+mn-ea"/>
              </a:rPr>
              <a:t>Purpose: Analyse past patterns and identify risk factors for defaults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2412980" y="58273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US" altLang="en-US" sz="4000" dirty="0" err="1"/>
              <a:t>DataSet</a:t>
            </a:r>
            <a:r>
              <a:rPr lang="en-US" altLang="en-US" sz="4000" dirty="0"/>
              <a:t> Overview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en-US"/>
              <a:t>2. Application Data</a:t>
            </a:r>
            <a:r>
              <a:rPr lang="ar-EG" altLang="en-US"/>
              <a:t> :</a:t>
            </a:r>
          </a:p>
          <a:p>
            <a:pPr marL="114300" indent="0">
              <a:buNone/>
            </a:pPr>
            <a:r>
              <a:rPr lang="en-US" altLang="en-US"/>
              <a:t>122 features Containing client information at the time of loan application, including whether the client has payment difficulties.</a:t>
            </a:r>
          </a:p>
          <a:p>
            <a:pPr marL="114300" indent="0">
              <a:buNone/>
            </a:pPr>
            <a:r>
              <a:rPr lang="en-US" altLang="en-US"/>
              <a:t>Also Includes:</a:t>
            </a:r>
          </a:p>
          <a:p>
            <a:r>
              <a:rPr lang="en-US" altLang="en-US"/>
              <a:t>Customer demographics &amp; financial attributes</a:t>
            </a:r>
          </a:p>
          <a:p>
            <a:r>
              <a:rPr lang="en-US" altLang="en-US"/>
              <a:t>Employment information &amp; existing debts</a:t>
            </a:r>
          </a:p>
          <a:p>
            <a:r>
              <a:rPr lang="en-US" altLang="en-US"/>
              <a:t>Requested loan details and terms</a:t>
            </a:r>
          </a:p>
          <a:p>
            <a:pPr marL="114300" indent="0">
              <a:buNone/>
            </a:pPr>
            <a:r>
              <a:rPr lang="en-US" altLang="en-US"/>
              <a:t>Purpose: Evaluate new applications and predict likelihood of default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US" altLang="en-US" sz="4000" dirty="0">
                <a:sym typeface="+mn-ea"/>
              </a:rPr>
              <a:t>Tools Used for the project</a:t>
            </a:r>
            <a:endParaRPr lang="en-US" alt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en-US" dirty="0">
                <a:sym typeface="+mn-ea"/>
              </a:rPr>
              <a:t>Programming Language:</a:t>
            </a:r>
          </a:p>
          <a:p>
            <a:r>
              <a:rPr lang="en-US" altLang="en-US" dirty="0">
                <a:sym typeface="+mn-ea"/>
              </a:rPr>
              <a:t>Python, core language for data analysis, visualization, and model development</a:t>
            </a:r>
            <a:endParaRPr lang="en-US" altLang="en-US" dirty="0"/>
          </a:p>
          <a:p>
            <a:pPr marL="114300" indent="0">
              <a:buNone/>
            </a:pPr>
            <a:r>
              <a:rPr lang="en-US" altLang="en-US" dirty="0">
                <a:sym typeface="+mn-ea"/>
              </a:rPr>
              <a:t>Data Processing &amp; Analysis: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Pandas</a:t>
            </a:r>
            <a:r>
              <a:rPr lang="ar-EG" altLang="en-US" dirty="0">
                <a:sym typeface="+mn-ea"/>
              </a:rPr>
              <a:t> </a:t>
            </a:r>
            <a:r>
              <a:rPr lang="en-GB" altLang="ar-EG" dirty="0">
                <a:sym typeface="+mn-ea"/>
              </a:rPr>
              <a:t>&amp; </a:t>
            </a:r>
            <a:r>
              <a:rPr lang="en-GB" altLang="ar-EG" dirty="0" err="1">
                <a:sym typeface="+mn-ea"/>
              </a:rPr>
              <a:t>Numpy</a:t>
            </a:r>
            <a:r>
              <a:rPr lang="ar-EG" altLang="en-US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for data cleaning, manipulation, and exploration</a:t>
            </a:r>
            <a:endParaRPr lang="en-US" altLang="en-US" dirty="0"/>
          </a:p>
          <a:p>
            <a:pPr marL="114300" indent="0">
              <a:buNone/>
            </a:pPr>
            <a:r>
              <a:rPr lang="en-US" altLang="en-US" dirty="0">
                <a:sym typeface="+mn-ea"/>
              </a:rPr>
              <a:t>Data Visualization</a:t>
            </a:r>
            <a:r>
              <a:rPr lang="ar-EG" altLang="en-US" dirty="0">
                <a:sym typeface="+mn-ea"/>
              </a:rPr>
              <a:t>: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Matplotlib for creating charts and plots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Seaborn for statistical visualizations for deeper insights</a:t>
            </a:r>
            <a:endParaRPr lang="en-US" altLang="en-US" dirty="0"/>
          </a:p>
          <a:p>
            <a:pPr marL="114300" indent="0">
              <a:buNone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9580"/>
            <a:ext cx="10515600" cy="1322705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/>
              <a:t>Project Development Methodologies</a:t>
            </a:r>
            <a:r>
              <a:rPr lang="en-GB" altLang="en-US" sz="4000"/>
              <a:t>:</a:t>
            </a:r>
            <a:br>
              <a:rPr lang="en-US" altLang="en-US" sz="4000"/>
            </a:br>
            <a:r>
              <a:rPr lang="en-GB" altLang="en-US" sz="4000"/>
              <a:t>Data Cleaning &amp; 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 dirty="0"/>
              <a:t>1. </a:t>
            </a:r>
            <a:r>
              <a:rPr lang="en-US" altLang="en-US" sz="4000" dirty="0"/>
              <a:t>Data Understanding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r>
              <a:rPr lang="en-US" altLang="en-US"/>
              <a:t>Explored the dataset structure, feature types, and distributions</a:t>
            </a:r>
          </a:p>
          <a:p>
            <a:r>
              <a:rPr lang="en-US" altLang="en-US"/>
              <a:t>Identified key variables influencing loan defaults</a:t>
            </a:r>
          </a:p>
          <a:p>
            <a:r>
              <a:rPr lang="en-US" altLang="en-US"/>
              <a:t>Analyzed relationships between customer behaviour and loan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2. </a:t>
            </a:r>
            <a:r>
              <a:rPr lang="en-US" altLang="en-US" sz="4000"/>
              <a:t>Data Cleaning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r>
              <a:rPr lang="en-US" altLang="en-US"/>
              <a:t>Removed inconsistent entries, duplicates &amp; invalid records</a:t>
            </a:r>
          </a:p>
          <a:p>
            <a:r>
              <a:rPr lang="en-US" altLang="en-US"/>
              <a:t>Standardized data formats</a:t>
            </a:r>
          </a:p>
          <a:p>
            <a:r>
              <a:rPr lang="en-US" altLang="en-US"/>
              <a:t>Ensured that the dataset is reliable and ready for analysis &amp;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3. </a:t>
            </a:r>
            <a:r>
              <a:rPr lang="en-US" altLang="en-US" sz="4000"/>
              <a:t>Feature Engineering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r>
              <a:rPr lang="en-GB" altLang="en-US"/>
              <a:t>C</a:t>
            </a:r>
            <a:r>
              <a:rPr lang="en-US" altLang="en-US"/>
              <a:t>reated meaningful new features from existing data</a:t>
            </a:r>
          </a:p>
          <a:p>
            <a:r>
              <a:rPr lang="en-US" altLang="en-US"/>
              <a:t>Transformed variables to improve model learning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4. </a:t>
            </a:r>
            <a:r>
              <a:rPr lang="en-US" altLang="en-US" sz="4000"/>
              <a:t>Handling Nulls &amp; Outliers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r>
              <a:rPr lang="en-GB" altLang="en-US"/>
              <a:t>T</a:t>
            </a:r>
            <a:r>
              <a:rPr lang="en-US" altLang="en-US"/>
              <a:t>reated missing values through appropriate imputation techniques</a:t>
            </a:r>
          </a:p>
          <a:p>
            <a:r>
              <a:rPr lang="en-US" altLang="en-US"/>
              <a:t>Detected and managed extreme values that could disort the model</a:t>
            </a:r>
          </a:p>
          <a:p>
            <a:r>
              <a:rPr lang="en-US" altLang="en-US"/>
              <a:t>Ensured data quality for reliable &amp; stable model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9580"/>
            <a:ext cx="10515600" cy="1322705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/>
              <a:t>Project Development Methodologies</a:t>
            </a:r>
            <a:r>
              <a:rPr lang="en-GB" altLang="en-US" sz="4000"/>
              <a:t>:</a:t>
            </a:r>
            <a:br>
              <a:rPr lang="en-US" altLang="en-US" sz="4000"/>
            </a:br>
            <a:r>
              <a:rPr lang="en-GB" altLang="en-US" sz="4000"/>
              <a:t>Exploratory Data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EDA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/>
              <a:t>After cleaning the dataset, we performed a series of EDA steps to understand patterns, detect trends, and extract meaningful insights:</a:t>
            </a:r>
          </a:p>
          <a:p>
            <a:r>
              <a:rPr lang="en-US" altLang="en-US"/>
              <a:t>Univariate Analysis</a:t>
            </a:r>
            <a:r>
              <a:rPr lang="en-GB" altLang="en-US"/>
              <a:t>: </a:t>
            </a:r>
            <a:r>
              <a:rPr lang="en-US" altLang="en-US"/>
              <a:t>Examined individual features (income, age, loan amount, credit score).</a:t>
            </a:r>
          </a:p>
          <a:p>
            <a:r>
              <a:rPr lang="en-US" altLang="en-US"/>
              <a:t>Bivariate Analysis</a:t>
            </a:r>
            <a:r>
              <a:rPr lang="en-GB" altLang="en-US"/>
              <a:t>: </a:t>
            </a:r>
            <a:r>
              <a:rPr lang="en-US" altLang="en-US"/>
              <a:t>Compared key features with the target variable (loan default).</a:t>
            </a:r>
          </a:p>
          <a:p>
            <a:r>
              <a:rPr lang="en-US" altLang="en-US"/>
              <a:t>Correlation Analysis</a:t>
            </a:r>
            <a:r>
              <a:rPr lang="en-GB" altLang="en-US"/>
              <a:t>: </a:t>
            </a:r>
            <a:r>
              <a:rPr lang="en-US" altLang="en-US"/>
              <a:t>Generated a correlation matrix and heatmap to detect strong relationships between numerical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EDA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r>
              <a:rPr lang="en-US" altLang="en-US"/>
              <a:t>Outlier Behavior &amp; Distribution Checks</a:t>
            </a:r>
            <a:r>
              <a:rPr lang="en-GB" altLang="en-US"/>
              <a:t>: </a:t>
            </a:r>
            <a:r>
              <a:rPr lang="en-US" altLang="en-US"/>
              <a:t>Evaluated variable ranges using boxplots and statistical metrics.</a:t>
            </a:r>
          </a:p>
          <a:p>
            <a:r>
              <a:rPr lang="en-US" altLang="en-US"/>
              <a:t>Categorical Feature Exploration</a:t>
            </a:r>
            <a:r>
              <a:rPr lang="en-GB" altLang="en-US"/>
              <a:t>: </a:t>
            </a:r>
            <a:r>
              <a:rPr lang="en-US" altLang="en-US"/>
              <a:t>Analyzed categories such as education, occupation, marital status, and housing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  <p:pic>
        <p:nvPicPr>
          <p:cNvPr id="174" name="Google Shape;174;p7" descr="C:/Users/Mohamed/OneDrive/Desktop/Images/Screenshot_1.pngScreenshot_1"/>
          <p:cNvPicPr preferRelativeResize="0"/>
          <p:nvPr/>
        </p:nvPicPr>
        <p:blipFill rotWithShape="1">
          <a:blip r:embed="rId2"/>
          <a:srcRect t="6077" b="6077"/>
          <a:stretch>
            <a:fillRect/>
          </a:stretch>
        </p:blipFill>
        <p:spPr>
          <a:xfrm>
            <a:off x="3908425" y="1823085"/>
            <a:ext cx="7277735" cy="37604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pic>
        <p:nvPicPr>
          <p:cNvPr id="174" name="Google Shape;174;p7" descr="C:/Users/Mohamed/OneDrive/Desktop/Images/Screenshot_15.pngScreenshot_15"/>
          <p:cNvPicPr preferRelativeResize="0"/>
          <p:nvPr/>
        </p:nvPicPr>
        <p:blipFill rotWithShape="1">
          <a:blip r:embed="rId2"/>
          <a:srcRect l="1917" r="1917"/>
          <a:stretch>
            <a:fillRect/>
          </a:stretch>
        </p:blipFill>
        <p:spPr>
          <a:xfrm>
            <a:off x="3908425" y="1823085"/>
            <a:ext cx="7277735" cy="37604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  <p:pic>
        <p:nvPicPr>
          <p:cNvPr id="174" name="Google Shape;174;p7" descr="C:/Users/Mohamed/OneDrive/Desktop/Images/Screenshot_4.pngScreenshot_4"/>
          <p:cNvPicPr preferRelativeResize="0"/>
          <p:nvPr/>
        </p:nvPicPr>
        <p:blipFill rotWithShape="1">
          <a:blip r:embed="rId2"/>
          <a:srcRect l="8153" r="8153"/>
          <a:stretch>
            <a:fillRect/>
          </a:stretch>
        </p:blipFill>
        <p:spPr>
          <a:xfrm>
            <a:off x="4434840" y="1422400"/>
            <a:ext cx="502412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pic>
        <p:nvPicPr>
          <p:cNvPr id="6" name="Google Shape;174;p7" descr="C:/Users/Mohamed/OneDrive/Desktop/Images/Screenshot_8.pngScreenshot_8"/>
          <p:cNvPicPr preferRelativeResize="0"/>
          <p:nvPr/>
        </p:nvPicPr>
        <p:blipFill rotWithShape="1">
          <a:blip r:embed="rId2"/>
          <a:srcRect l="1217" r="1217"/>
          <a:stretch>
            <a:fillRect/>
          </a:stretch>
        </p:blipFill>
        <p:spPr>
          <a:xfrm>
            <a:off x="4434840" y="1422400"/>
            <a:ext cx="502412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pic>
        <p:nvPicPr>
          <p:cNvPr id="3" name="Google Shape;174;p7" descr="C:/Users/Mohamed/OneDrive/Desktop/Images/Screenshot_5.pngScreenshot_5"/>
          <p:cNvPicPr preferRelativeResize="0"/>
          <p:nvPr/>
        </p:nvPicPr>
        <p:blipFill rotWithShape="1">
          <a:blip r:embed="rId2"/>
          <a:srcRect l="4572" r="4572"/>
          <a:stretch>
            <a:fillRect/>
          </a:stretch>
        </p:blipFill>
        <p:spPr>
          <a:xfrm>
            <a:off x="4434840" y="1422400"/>
            <a:ext cx="502412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pic>
        <p:nvPicPr>
          <p:cNvPr id="3" name="Google Shape;174;p7" descr="C:/Users/Mohamed/OneDrive/Desktop/Images/Screenshot_12.pngScreenshot_12"/>
          <p:cNvPicPr preferRelativeResize="0"/>
          <p:nvPr/>
        </p:nvPicPr>
        <p:blipFill rotWithShape="1">
          <a:blip r:embed="rId2"/>
          <a:srcRect l="3784" r="3784"/>
          <a:stretch>
            <a:fillRect/>
          </a:stretch>
        </p:blipFill>
        <p:spPr>
          <a:xfrm>
            <a:off x="4434840" y="1422400"/>
            <a:ext cx="631444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pic>
        <p:nvPicPr>
          <p:cNvPr id="3" name="Google Shape;174;p7" descr="C:/Users/Mohamed/OneDrive/Desktop/Images/Screenshot_10.pngScreenshot_10"/>
          <p:cNvPicPr preferRelativeResize="0"/>
          <p:nvPr/>
        </p:nvPicPr>
        <p:blipFill rotWithShape="1">
          <a:blip r:embed="rId2"/>
          <a:srcRect l="4706" r="4706"/>
          <a:stretch>
            <a:fillRect/>
          </a:stretch>
        </p:blipFill>
        <p:spPr>
          <a:xfrm>
            <a:off x="4434840" y="1422400"/>
            <a:ext cx="502412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pic>
        <p:nvPicPr>
          <p:cNvPr id="3" name="Google Shape;174;p7" descr="C:/Users/Mohamed/OneDrive/Desktop/Images/Screenshot_20.pngScreenshot_20"/>
          <p:cNvPicPr preferRelativeResize="0"/>
          <p:nvPr/>
        </p:nvPicPr>
        <p:blipFill rotWithShape="1">
          <a:blip r:embed="rId2"/>
          <a:srcRect l="373" r="373"/>
          <a:stretch>
            <a:fillRect/>
          </a:stretch>
        </p:blipFill>
        <p:spPr>
          <a:xfrm>
            <a:off x="4434840" y="1422400"/>
            <a:ext cx="5024120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sp>
        <p:nvSpPr>
          <p:cNvPr id="5" name="Text Box 4"/>
          <p:cNvSpPr txBox="1"/>
          <p:nvPr/>
        </p:nvSpPr>
        <p:spPr>
          <a:xfrm>
            <a:off x="1419225" y="73761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  <p:pic>
        <p:nvPicPr>
          <p:cNvPr id="3" name="Google Shape;174;p7" descr="C:/Users/Mohamed/OneDrive/Desktop/Images/Screenshot_26.pngScreenshot_26"/>
          <p:cNvPicPr preferRelativeResize="0"/>
          <p:nvPr/>
        </p:nvPicPr>
        <p:blipFill rotWithShape="1">
          <a:blip r:embed="rId2"/>
          <a:srcRect l="1308" r="1308"/>
          <a:stretch>
            <a:fillRect/>
          </a:stretch>
        </p:blipFill>
        <p:spPr>
          <a:xfrm>
            <a:off x="4434840" y="1431925"/>
            <a:ext cx="5661025" cy="45135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sp>
        <p:nvSpPr>
          <p:cNvPr id="5" name="Text Box 4"/>
          <p:cNvSpPr txBox="1"/>
          <p:nvPr/>
        </p:nvSpPr>
        <p:spPr>
          <a:xfrm>
            <a:off x="1419225" y="73761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sz="4000"/>
              <a:t>Top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lang="en-US"/>
          </a:p>
        </p:txBody>
      </p:sp>
      <p:pic>
        <p:nvPicPr>
          <p:cNvPr id="3" name="Google Shape;174;p7" descr="C:/Users/Mohamed/OneDrive/Desktop/Images/Screenshot_28.pngScreenshot_28"/>
          <p:cNvPicPr preferRelativeResize="0"/>
          <p:nvPr/>
        </p:nvPicPr>
        <p:blipFill rotWithShape="1">
          <a:blip r:embed="rId2"/>
          <a:srcRect t="1378" b="1378"/>
          <a:stretch>
            <a:fillRect/>
          </a:stretch>
        </p:blipFill>
        <p:spPr>
          <a:xfrm>
            <a:off x="3858895" y="985520"/>
            <a:ext cx="6682105" cy="50590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sp>
        <p:nvSpPr>
          <p:cNvPr id="5" name="Text Box 4"/>
          <p:cNvSpPr txBox="1"/>
          <p:nvPr/>
        </p:nvSpPr>
        <p:spPr>
          <a:xfrm>
            <a:off x="1419225" y="737616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89580"/>
            <a:ext cx="10515600" cy="1322705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/>
              <a:t>Project Development Methodologies</a:t>
            </a:r>
            <a:r>
              <a:rPr lang="en-GB" altLang="en-US" sz="4000"/>
              <a:t>:</a:t>
            </a:r>
            <a:br>
              <a:rPr lang="en-US" altLang="en-US" sz="4000"/>
            </a:br>
            <a:r>
              <a:rPr lang="en-GB" altLang="en-US" sz="4000"/>
              <a:t>Data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US" altLang="en-US" sz="4000" dirty="0"/>
              <a:t>Model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dirty="0"/>
              <a:t>To identify the most effective model for predicting loan defaults, </a:t>
            </a:r>
          </a:p>
          <a:p>
            <a:pPr marL="114300" indent="0">
              <a:buNone/>
            </a:pPr>
            <a:r>
              <a:rPr lang="en-US" altLang="en-US" dirty="0"/>
              <a:t>we trained and evaluated three machine learning algorithms:</a:t>
            </a:r>
          </a:p>
          <a:p>
            <a:r>
              <a:rPr lang="en-US" altLang="en-US" dirty="0" err="1"/>
              <a:t>CatBoost</a:t>
            </a:r>
            <a:r>
              <a:rPr lang="en-US" altLang="en-US" dirty="0"/>
              <a:t> Classifier</a:t>
            </a:r>
          </a:p>
          <a:p>
            <a:r>
              <a:rPr lang="en-US" altLang="en-US" dirty="0"/>
              <a:t>Random Forest Classifier</a:t>
            </a:r>
          </a:p>
          <a:p>
            <a:r>
              <a:rPr lang="en-US" altLang="en-US" dirty="0" err="1"/>
              <a:t>LightGBM</a:t>
            </a:r>
            <a:r>
              <a:rPr lang="en-US" altLang="en-US" dirty="0"/>
              <a:t> Classifier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5.1. </a:t>
            </a:r>
            <a:r>
              <a:rPr lang="en-US" altLang="en-US" sz="4000"/>
              <a:t>CatBoost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878580"/>
          </a:xfrm>
        </p:spPr>
        <p:txBody>
          <a:bodyPr>
            <a:noAutofit/>
          </a:bodyPr>
          <a:lstStyle/>
          <a:p>
            <a:r>
              <a:rPr lang="en-US" altLang="en-US" sz="2700"/>
              <a:t>Accuracy</a:t>
            </a:r>
            <a:r>
              <a:rPr lang="en-GB" altLang="en-US" sz="2700"/>
              <a:t> Score</a:t>
            </a:r>
            <a:r>
              <a:rPr lang="en-US" altLang="en-US" sz="2700"/>
              <a:t>: 81%</a:t>
            </a:r>
            <a:r>
              <a:rPr lang="en-GB" altLang="en-US" sz="2700"/>
              <a:t> </a:t>
            </a:r>
          </a:p>
          <a:p>
            <a:r>
              <a:rPr lang="en-US" altLang="en-US" sz="2700"/>
              <a:t>ROC AUC</a:t>
            </a:r>
            <a:r>
              <a:rPr lang="en-GB" altLang="en-US" sz="2700"/>
              <a:t> Score</a:t>
            </a:r>
            <a:r>
              <a:rPr lang="en-US" altLang="en-US" sz="2700"/>
              <a:t>: 96.7%</a:t>
            </a:r>
          </a:p>
          <a:p>
            <a:endParaRPr lang="en-US" altLang="en-US" sz="27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5.1. </a:t>
            </a:r>
            <a:r>
              <a:rPr lang="en-US" altLang="en-US" sz="4000"/>
              <a:t>CatBoost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59965"/>
            <a:ext cx="10515600" cy="387858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700">
                <a:sym typeface="+mn-ea"/>
              </a:rPr>
              <a:t>Summary of Classification Results:</a:t>
            </a:r>
            <a:endParaRPr lang="en-US" altLang="en-US" sz="2700"/>
          </a:p>
          <a:p>
            <a:r>
              <a:rPr lang="en-US" altLang="en-US" sz="2700">
                <a:sym typeface="+mn-ea"/>
              </a:rPr>
              <a:t>Class 0 (Non-Defaulters): Good precision (96%) but low recall (68%), the model missed many non-defaulters.</a:t>
            </a:r>
            <a:endParaRPr lang="en-US" altLang="en-US" sz="2700"/>
          </a:p>
          <a:p>
            <a:r>
              <a:rPr lang="en-US" altLang="en-US" sz="2700">
                <a:sym typeface="+mn-ea"/>
              </a:rPr>
              <a:t>Class 1 (Defaulters): Moderate precision (70%) but very high recall (96%),</a:t>
            </a:r>
            <a:r>
              <a:rPr lang="en-GB" altLang="en-US" sz="2700">
                <a:sym typeface="+mn-ea"/>
              </a:rPr>
              <a:t> </a:t>
            </a:r>
            <a:r>
              <a:rPr lang="en-US" altLang="en-US" sz="2700">
                <a:sym typeface="+mn-ea"/>
              </a:rPr>
              <a:t>the model correctly identified most defaulters but misclassified many non-defaulters as risky.</a:t>
            </a:r>
            <a:endParaRPr lang="en-US" altLang="en-US" sz="2700"/>
          </a:p>
          <a:p>
            <a:pPr marL="114300" indent="0">
              <a:buNone/>
            </a:pPr>
            <a:r>
              <a:rPr lang="en-US" altLang="en-US" sz="2700">
                <a:sym typeface="+mn-ea"/>
              </a:rPr>
              <a:t>Interpretation:</a:t>
            </a:r>
            <a:r>
              <a:rPr lang="en-GB" altLang="en-US" sz="2700">
                <a:sym typeface="+mn-ea"/>
              </a:rPr>
              <a:t> </a:t>
            </a:r>
            <a:r>
              <a:rPr lang="en-US" altLang="en-US" sz="2700">
                <a:sym typeface="+mn-ea"/>
              </a:rPr>
              <a:t>CatBoost struggled with balancing both classes and produced many false positives.</a:t>
            </a:r>
            <a:endParaRPr lang="en-US" altLang="en-US" sz="27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5.1. </a:t>
            </a:r>
            <a:r>
              <a:rPr lang="en-US" altLang="en-US" sz="4000"/>
              <a:t>CatBoost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 lang="en-US"/>
          </a:p>
        </p:txBody>
      </p:sp>
      <p:pic>
        <p:nvPicPr>
          <p:cNvPr id="7" name="Google Shape;174;p7" descr="C:/Users/Mohamed/OneDrive/Desktop/Images/CatBoost.pngCatBoost"/>
          <p:cNvPicPr preferRelativeResize="0"/>
          <p:nvPr/>
        </p:nvPicPr>
        <p:blipFill rotWithShape="1">
          <a:blip r:embed="rId2"/>
          <a:srcRect l="100" r="100"/>
          <a:stretch>
            <a:fillRect/>
          </a:stretch>
        </p:blipFill>
        <p:spPr>
          <a:xfrm>
            <a:off x="3976370" y="1948180"/>
            <a:ext cx="5739130" cy="37992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5.2. </a:t>
            </a:r>
            <a:r>
              <a:rPr lang="en-US" altLang="en-US" sz="4000"/>
              <a:t>Random Forests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Autofit/>
          </a:bodyPr>
          <a:lstStyle/>
          <a:p>
            <a:r>
              <a:rPr lang="en-US" altLang="en-US" sz="2700" dirty="0"/>
              <a:t>Strong but Slightly Overfitted</a:t>
            </a:r>
          </a:p>
          <a:p>
            <a:r>
              <a:rPr lang="en-US" altLang="en-US" sz="2700" dirty="0"/>
              <a:t>Train Accuracy</a:t>
            </a:r>
            <a:r>
              <a:rPr lang="en-GB" altLang="en-US" sz="2700" dirty="0"/>
              <a:t> of </a:t>
            </a:r>
            <a:r>
              <a:rPr lang="en-US" altLang="en-US" sz="2700" dirty="0"/>
              <a:t>99%</a:t>
            </a:r>
            <a:r>
              <a:rPr lang="en-GB" altLang="en-US" sz="2700" dirty="0"/>
              <a:t> </a:t>
            </a:r>
          </a:p>
          <a:p>
            <a:r>
              <a:rPr lang="en-US" altLang="en-US" sz="2700" dirty="0"/>
              <a:t>Test Accuracy: ~94% (cl</a:t>
            </a:r>
            <a:r>
              <a:rPr lang="en-GB" altLang="en-US" sz="2700" dirty="0"/>
              <a:t>e</a:t>
            </a:r>
            <a:r>
              <a:rPr lang="en-US" altLang="en-US" sz="2700" dirty="0" err="1"/>
              <a:t>ar</a:t>
            </a:r>
            <a:r>
              <a:rPr lang="en-US" altLang="en-US" sz="2700" dirty="0"/>
              <a:t> sign of slight overfitting)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5.2. </a:t>
            </a:r>
            <a:r>
              <a:rPr lang="en-US" altLang="en-US" sz="4000"/>
              <a:t>Random Forests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700"/>
              <a:t>Summary of Classification Results:</a:t>
            </a:r>
          </a:p>
          <a:p>
            <a:r>
              <a:rPr lang="en-US" altLang="en-US" sz="2700"/>
              <a:t>Class 0: Very high recall (99%) and strong precision (91%), rarely misses non-defaulters.</a:t>
            </a:r>
          </a:p>
          <a:p>
            <a:r>
              <a:rPr lang="en-US" altLang="en-US" sz="2700"/>
              <a:t>Class 1: Excellent precision (99%) but lower recall (87%),</a:t>
            </a:r>
          </a:p>
          <a:p>
            <a:r>
              <a:rPr lang="en-US" altLang="en-US" sz="2700"/>
              <a:t>identifies risky customers accurately but misses some actual defaulters.</a:t>
            </a:r>
          </a:p>
          <a:p>
            <a:pPr marL="114300" indent="0">
              <a:buNone/>
            </a:pPr>
            <a:r>
              <a:rPr lang="en-US" altLang="en-US" sz="2700"/>
              <a:t>Interpretation:</a:t>
            </a:r>
            <a:r>
              <a:rPr lang="en-GB" altLang="en-US" sz="2700"/>
              <a:t> </a:t>
            </a:r>
            <a:r>
              <a:rPr lang="en-US" altLang="en-US" sz="2700"/>
              <a:t>Random Forest performed well but showed signs of memorizing the training data, reducing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5.2. </a:t>
            </a:r>
            <a:r>
              <a:rPr lang="en-US" altLang="en-US" sz="4000"/>
              <a:t>Random Forests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 lang="en-US"/>
          </a:p>
        </p:txBody>
      </p:sp>
      <p:pic>
        <p:nvPicPr>
          <p:cNvPr id="6" name="Google Shape;174;p7" descr="C:/Users/Mohamed/OneDrive/Desktop/Images/Random Forests.pngRandom Forests"/>
          <p:cNvPicPr preferRelativeResize="0"/>
          <p:nvPr/>
        </p:nvPicPr>
        <p:blipFill rotWithShape="1">
          <a:blip r:embed="rId2"/>
          <a:srcRect t="769" b="769"/>
          <a:stretch>
            <a:fillRect/>
          </a:stretch>
        </p:blipFill>
        <p:spPr>
          <a:xfrm>
            <a:off x="5396230" y="1342390"/>
            <a:ext cx="5739130" cy="44049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/>
              <a:t>5.3. </a:t>
            </a:r>
            <a:r>
              <a:rPr lang="en-US" altLang="en-US" sz="4000"/>
              <a:t>LightGBM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Autofit/>
          </a:bodyPr>
          <a:lstStyle/>
          <a:p>
            <a:r>
              <a:rPr lang="en-US" altLang="en-US" sz="2700" dirty="0"/>
              <a:t>Best Overall Model</a:t>
            </a:r>
          </a:p>
          <a:p>
            <a:r>
              <a:rPr lang="en-US" altLang="en-US" sz="2700" dirty="0"/>
              <a:t>Train Accuracy: 95%</a:t>
            </a:r>
          </a:p>
          <a:p>
            <a:r>
              <a:rPr lang="en-US" altLang="en-US" sz="2700" dirty="0"/>
              <a:t>Test Accuracy: 94.5%</a:t>
            </a:r>
          </a:p>
          <a:p>
            <a:r>
              <a:rPr lang="en-US" altLang="en-US" sz="2700" dirty="0"/>
              <a:t>ROC AUC: 97%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>
                <a:sym typeface="+mn-ea"/>
              </a:rPr>
              <a:t>5.3. </a:t>
            </a:r>
            <a:r>
              <a:rPr lang="en-US" altLang="en-US" sz="4000">
                <a:sym typeface="+mn-ea"/>
              </a:rPr>
              <a:t>LightGBM</a:t>
            </a:r>
            <a:endParaRPr lang="en-US" alt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60930"/>
            <a:ext cx="10515600" cy="381635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en-US" sz="2700" dirty="0"/>
              <a:t>Key Highlights:</a:t>
            </a:r>
          </a:p>
          <a:p>
            <a:pPr marL="114300" indent="0">
              <a:buNone/>
            </a:pPr>
            <a:r>
              <a:rPr lang="en-US" altLang="en-US" sz="2700" dirty="0"/>
              <a:t>- Precision = 1.00 for Class 1 (Defaulters): The model made zero false-positive predictions for defaulters.</a:t>
            </a:r>
          </a:p>
          <a:p>
            <a:pPr marL="114300" indent="0">
              <a:buNone/>
            </a:pPr>
            <a:r>
              <a:rPr lang="en-US" altLang="en-US" sz="2700" dirty="0"/>
              <a:t>- Recall = 1.00 for Class 0 (Non-Defaulters): The model made zero false-negative predictions for non-defaulters.</a:t>
            </a:r>
          </a:p>
          <a:p>
            <a:pPr marL="114300" indent="0">
              <a:buNone/>
            </a:pPr>
            <a:r>
              <a:rPr lang="en-US" altLang="en-US" sz="2700" dirty="0"/>
              <a:t>Interpretation:</a:t>
            </a:r>
            <a:r>
              <a:rPr lang="en-GB" altLang="en-US" sz="2700" dirty="0"/>
              <a:t> </a:t>
            </a:r>
            <a:r>
              <a:rPr lang="en-US" altLang="en-US" sz="2700" dirty="0" err="1"/>
              <a:t>LightGBM</a:t>
            </a:r>
            <a:r>
              <a:rPr lang="en-US" altLang="en-US" sz="2700" dirty="0"/>
              <a:t> provided the best balance, highest reliability, and the strongest ability to correctly classify both safe and risky customers with minimal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917575"/>
          </a:xfrm>
        </p:spPr>
        <p:txBody>
          <a:bodyPr/>
          <a:lstStyle/>
          <a:p>
            <a:r>
              <a:rPr lang="en-GB" altLang="en-US" sz="4000">
                <a:sym typeface="+mn-ea"/>
              </a:rPr>
              <a:t>5.3. </a:t>
            </a:r>
            <a:r>
              <a:rPr lang="en-US" altLang="en-US" sz="4000">
                <a:sym typeface="+mn-ea"/>
              </a:rPr>
              <a:t>LightGBM</a:t>
            </a:r>
            <a:endParaRPr lang="en-US" altLang="en-US" sz="4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 lang="en-US"/>
          </a:p>
        </p:txBody>
      </p:sp>
      <p:pic>
        <p:nvPicPr>
          <p:cNvPr id="7" name="Google Shape;174;p7" descr="C:/Users/Mohamed/OneDrive/Desktop/Images/LightGBM.pngLightGBM"/>
          <p:cNvPicPr preferRelativeResize="0"/>
          <p:nvPr/>
        </p:nvPicPr>
        <p:blipFill rotWithShape="1">
          <a:blip r:embed="rId2"/>
          <a:srcRect l="675" r="675"/>
          <a:stretch>
            <a:fillRect/>
          </a:stretch>
        </p:blipFill>
        <p:spPr>
          <a:xfrm>
            <a:off x="4502785" y="1511935"/>
            <a:ext cx="5292090" cy="42354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2390"/>
            <a:ext cx="10515600" cy="4531360"/>
          </a:xfrm>
        </p:spPr>
        <p:txBody>
          <a:bodyPr/>
          <a:lstStyle/>
          <a:p>
            <a:pPr algn="ctr"/>
            <a:r>
              <a:rPr lang="en-GB" altLang="en-US" sz="4000"/>
              <a:t>Application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161538"/>
            <a:ext cx="10515600" cy="940157"/>
          </a:xfrm>
        </p:spPr>
        <p:txBody>
          <a:bodyPr>
            <a:normAutofit/>
          </a:bodyPr>
          <a:lstStyle/>
          <a:p>
            <a:r>
              <a:rPr lang="en-GB" sz="4000" dirty="0"/>
              <a:t>Deployment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838200" y="2281083"/>
            <a:ext cx="10515600" cy="3895879"/>
          </a:xfrm>
        </p:spPr>
        <p:txBody>
          <a:bodyPr/>
          <a:lstStyle/>
          <a:p>
            <a:r>
              <a:rPr lang="en-US" altLang="en-US" sz="2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using Flask framework for a full web interface and Streamlit for quick testing and prototyping.</a:t>
            </a:r>
          </a:p>
          <a:p>
            <a:r>
              <a:rPr lang="en-US" altLang="en-US" sz="2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with chatbot that can interact with users, answers their questions and handle loan application data.</a:t>
            </a:r>
          </a:p>
          <a:p>
            <a:pPr marL="114300" indent="0">
              <a:buNone/>
            </a:pPr>
            <a:endParaRPr lang="en-US" altLang="en-US" sz="27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14300" indent="0"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 lang="en-US"/>
          </a:p>
        </p:txBody>
      </p:sp>
      <p:pic>
        <p:nvPicPr>
          <p:cNvPr id="2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1. Flask Deployment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39097" y="2061967"/>
            <a:ext cx="5157787" cy="667353"/>
          </a:xfrm>
        </p:spPr>
        <p:txBody>
          <a:bodyPr>
            <a:normAutofit/>
          </a:bodyPr>
          <a:lstStyle/>
          <a:p>
            <a:r>
              <a:rPr lang="en-GB" sz="2700" b="0" dirty="0"/>
              <a:t>1.1. Applicant Information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839788" y="3107491"/>
            <a:ext cx="5157787" cy="308217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3"/>
          </p:nvPr>
        </p:nvSpPr>
        <p:spPr>
          <a:xfrm>
            <a:off x="5914871" y="2061968"/>
            <a:ext cx="5183188" cy="667353"/>
          </a:xfrm>
        </p:spPr>
        <p:txBody>
          <a:bodyPr>
            <a:normAutofit/>
          </a:bodyPr>
          <a:lstStyle/>
          <a:p>
            <a:r>
              <a:rPr lang="en-GB" sz="2700" b="0" dirty="0"/>
              <a:t>1.2. Previous Application History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"/>
          </p:nvPr>
        </p:nvSpPr>
        <p:spPr>
          <a:xfrm>
            <a:off x="6096000" y="3107492"/>
            <a:ext cx="5183188" cy="3074394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 lang="en-US"/>
          </a:p>
        </p:txBody>
      </p:sp>
      <p:pic>
        <p:nvPicPr>
          <p:cNvPr id="2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screenshot of a compu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84" y="2729321"/>
            <a:ext cx="5264304" cy="356180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414" y="2729321"/>
            <a:ext cx="5412502" cy="35618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1. Flask Deployment</a:t>
            </a:r>
          </a:p>
        </p:txBody>
      </p:sp>
      <p:sp>
        <p:nvSpPr>
          <p:cNvPr id="20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21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 lang="en-US"/>
          </a:p>
        </p:txBody>
      </p:sp>
      <p:pic>
        <p:nvPicPr>
          <p:cNvPr id="22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 descr="A green and black tex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67" y="2708478"/>
            <a:ext cx="6241321" cy="868755"/>
          </a:xfrm>
          <a:prstGeom prst="rect">
            <a:avLst/>
          </a:prstGeom>
        </p:spPr>
      </p:pic>
      <p:sp>
        <p:nvSpPr>
          <p:cNvPr id="33" name="Text Placeholder 7"/>
          <p:cNvSpPr>
            <a:spLocks noGrp="1"/>
          </p:cNvSpPr>
          <p:nvPr>
            <p:ph type="body" idx="1"/>
          </p:nvPr>
        </p:nvSpPr>
        <p:spPr>
          <a:xfrm>
            <a:off x="635567" y="2041125"/>
            <a:ext cx="5157787" cy="667353"/>
          </a:xfrm>
        </p:spPr>
        <p:txBody>
          <a:bodyPr>
            <a:normAutofit/>
          </a:bodyPr>
          <a:lstStyle/>
          <a:p>
            <a:r>
              <a:rPr lang="en-GB" sz="2700" b="0" dirty="0"/>
              <a:t>1.3. Prediction Result</a:t>
            </a:r>
          </a:p>
        </p:txBody>
      </p:sp>
      <p:sp>
        <p:nvSpPr>
          <p:cNvPr id="36" name="Text Placeholder 7"/>
          <p:cNvSpPr txBox="1"/>
          <p:nvPr/>
        </p:nvSpPr>
        <p:spPr>
          <a:xfrm>
            <a:off x="7794299" y="2041124"/>
            <a:ext cx="5157787" cy="66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GB" sz="2700" b="0" dirty="0"/>
              <a:t>1.4. Chatbot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E460002F-9E73-FD32-DA3A-FE32793F7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072" y="2773703"/>
            <a:ext cx="2277742" cy="344739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2. Streamlit Deployment</a:t>
            </a:r>
          </a:p>
        </p:txBody>
      </p:sp>
      <p:sp>
        <p:nvSpPr>
          <p:cNvPr id="4" name="Text Placeholder 7"/>
          <p:cNvSpPr txBox="1"/>
          <p:nvPr/>
        </p:nvSpPr>
        <p:spPr>
          <a:xfrm>
            <a:off x="858980" y="2189172"/>
            <a:ext cx="5157787" cy="66735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 Applicant Information</a:t>
            </a:r>
          </a:p>
        </p:txBody>
      </p:sp>
      <p:sp>
        <p:nvSpPr>
          <p:cNvPr id="6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7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 lang="en-US"/>
          </a:p>
        </p:txBody>
      </p:sp>
      <p:pic>
        <p:nvPicPr>
          <p:cNvPr id="8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585" y="2189480"/>
            <a:ext cx="6546850" cy="395160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987675" y="443166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2. Streamlit Deployment</a:t>
            </a:r>
          </a:p>
        </p:txBody>
      </p:sp>
      <p:sp>
        <p:nvSpPr>
          <p:cNvPr id="5" name="Text Placeholder 9"/>
          <p:cNvSpPr txBox="1"/>
          <p:nvPr/>
        </p:nvSpPr>
        <p:spPr>
          <a:xfrm>
            <a:off x="899795" y="2252980"/>
            <a:ext cx="4866640" cy="66738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Previous Application History</a:t>
            </a:r>
          </a:p>
        </p:txBody>
      </p:sp>
      <p:sp>
        <p:nvSpPr>
          <p:cNvPr id="6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7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 lang="en-US"/>
          </a:p>
        </p:txBody>
      </p:sp>
      <p:pic>
        <p:nvPicPr>
          <p:cNvPr id="8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070" y="2253615"/>
            <a:ext cx="5622290" cy="39725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2. Streamlit Deployment</a:t>
            </a:r>
          </a:p>
        </p:txBody>
      </p:sp>
      <p:sp>
        <p:nvSpPr>
          <p:cNvPr id="11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12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 lang="en-US"/>
          </a:p>
        </p:txBody>
      </p:sp>
      <p:pic>
        <p:nvPicPr>
          <p:cNvPr id="13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Placeholder 7"/>
          <p:cNvSpPr txBox="1"/>
          <p:nvPr/>
        </p:nvSpPr>
        <p:spPr>
          <a:xfrm>
            <a:off x="838200" y="2231237"/>
            <a:ext cx="5157787" cy="66735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 Prediction Result</a:t>
            </a:r>
          </a:p>
        </p:txBody>
      </p:sp>
      <p:sp>
        <p:nvSpPr>
          <p:cNvPr id="17" name="Text Placeholder 7"/>
          <p:cNvSpPr txBox="1"/>
          <p:nvPr/>
        </p:nvSpPr>
        <p:spPr>
          <a:xfrm>
            <a:off x="7403306" y="2038838"/>
            <a:ext cx="5157787" cy="66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GB" sz="2700" b="0" dirty="0"/>
              <a:t>2.4. Chatbot</a:t>
            </a:r>
          </a:p>
        </p:txBody>
      </p:sp>
      <p:pic>
        <p:nvPicPr>
          <p:cNvPr id="19" name="Picture 18" descr="A screenshot of a computer screen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98590"/>
            <a:ext cx="4778494" cy="192904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9E5C8F-15A0-ED84-6D0D-637CF9BF5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91033"/>
            <a:ext cx="5997677" cy="175555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>
            <a:spLocks noGrp="1"/>
          </p:cNvSpPr>
          <p:nvPr>
            <p:ph type="title"/>
          </p:nvPr>
        </p:nvSpPr>
        <p:spPr>
          <a:xfrm>
            <a:off x="838200" y="1095786"/>
            <a:ext cx="10515600" cy="1325563"/>
          </a:xfrm>
        </p:spPr>
        <p:txBody>
          <a:bodyPr/>
          <a:lstStyle/>
          <a:p>
            <a:r>
              <a:rPr lang="en-GB" dirty="0"/>
              <a:t>What did our team do:</a:t>
            </a:r>
          </a:p>
        </p:txBody>
      </p:sp>
      <p:sp>
        <p:nvSpPr>
          <p:cNvPr id="6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/>
          </a:p>
        </p:txBody>
      </p:sp>
      <p:sp>
        <p:nvSpPr>
          <p:cNvPr id="7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 lang="en-US"/>
          </a:p>
        </p:txBody>
      </p:sp>
      <p:pic>
        <p:nvPicPr>
          <p:cNvPr id="8" name="Google Shape;110;p1"/>
          <p:cNvPicPr preferRelativeResize="0"/>
          <p:nvPr/>
        </p:nvPicPr>
        <p:blipFill>
          <a:blip r:embed="rId4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987675" y="443166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995045" y="2305050"/>
          <a:ext cx="10358755" cy="331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Main Accomplishments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Mohammed Yasser Ismael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Data Cleaning, Handling Data Inconsistencies, LightGBM Classifier Model, Feature Selection, Final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Noureldin Mohammed Amin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Handling Outliers, Application Chatbot, Project Documentation, Final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en-US"/>
                        <a:t>A</a:t>
                      </a:r>
                      <a:r>
                        <a:rPr lang="en-US" altLang="en-US"/>
                        <a:t>bdelrahman </a:t>
                      </a:r>
                      <a:r>
                        <a:rPr lang="en-GB" altLang="en-US"/>
                        <a:t>H</a:t>
                      </a:r>
                      <a:r>
                        <a:rPr lang="en-US" altLang="en-US"/>
                        <a:t>assan </a:t>
                      </a:r>
                      <a:r>
                        <a:rPr lang="en-GB" altLang="en-US"/>
                        <a:t>S</a:t>
                      </a:r>
                      <a:r>
                        <a:rPr lang="en-US" altLang="en-US"/>
                        <a:t>haaban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Project Kick-Start Documentation, Data Exploration, EDA For Application DataSet, Streamlit Application, Flask Application, Model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Mohamed Ayman Afifi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Feature Engineering, Random Forests Classifier Model, Project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/>
                        <a:t>Mark Hany Adel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/>
                        <a:t>EDA For Previous DataSet, CatBoost Classifier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61245-B81F-A2CF-D15C-9176266EC6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pic>
        <p:nvPicPr>
          <p:cNvPr id="3074" name="Picture 2" descr="Thanks You White Transparent, Brush Thank You, Vector ...">
            <a:extLst>
              <a:ext uri="{FF2B5EF4-FFF2-40B4-BE49-F238E27FC236}">
                <a16:creationId xmlns:a16="http://schemas.microsoft.com/office/drawing/2014/main" id="{85367D2F-2F83-654C-602D-D28BAB058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5558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5*260"/>
  <p:tag name="TABLE_ENDDRAG_RECT" val="78*181*815*260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1187</Words>
  <Application>Microsoft Office PowerPoint</Application>
  <PresentationFormat>Widescreen</PresentationFormat>
  <Paragraphs>187</Paragraphs>
  <Slides>45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Calibri</vt:lpstr>
      <vt:lpstr>Poppins Black</vt:lpstr>
      <vt:lpstr>Arial</vt:lpstr>
      <vt:lpstr>Office Theme</vt:lpstr>
      <vt:lpstr>PowerPoint Presentation</vt:lpstr>
      <vt:lpstr>Problem Description</vt:lpstr>
      <vt:lpstr>Overview of the Proposed Solution</vt:lpstr>
      <vt:lpstr>End Users</vt:lpstr>
      <vt:lpstr>DataSet Overview </vt:lpstr>
      <vt:lpstr>DataSet Overview </vt:lpstr>
      <vt:lpstr>Tools Used for the project</vt:lpstr>
      <vt:lpstr>Project Development Methodologies: Data Cleaning &amp; Preprocessing</vt:lpstr>
      <vt:lpstr>1. Data Understanding</vt:lpstr>
      <vt:lpstr>2. Data Cleaning</vt:lpstr>
      <vt:lpstr>3. Feature Engineering</vt:lpstr>
      <vt:lpstr>4. Handling Nulls &amp; Outliers</vt:lpstr>
      <vt:lpstr>Project Development Methodologies: Exploratory Data Analysis</vt:lpstr>
      <vt:lpstr>EDA Steps</vt:lpstr>
      <vt:lpstr>EDA Steps</vt:lpstr>
      <vt:lpstr>Top Insights</vt:lpstr>
      <vt:lpstr>Top Insights</vt:lpstr>
      <vt:lpstr>Top Insights</vt:lpstr>
      <vt:lpstr>Top Insights</vt:lpstr>
      <vt:lpstr>Top Insights</vt:lpstr>
      <vt:lpstr>Top Insights</vt:lpstr>
      <vt:lpstr>Top Insights</vt:lpstr>
      <vt:lpstr>Top Insights</vt:lpstr>
      <vt:lpstr>Top Insights</vt:lpstr>
      <vt:lpstr>Top Insights</vt:lpstr>
      <vt:lpstr>Project Development Methodologies: Data Modeling</vt:lpstr>
      <vt:lpstr>Model Selection</vt:lpstr>
      <vt:lpstr>5.1. CatBoost </vt:lpstr>
      <vt:lpstr>5.1. CatBoost </vt:lpstr>
      <vt:lpstr>5.1. CatBoost </vt:lpstr>
      <vt:lpstr>5.2. Random Forests</vt:lpstr>
      <vt:lpstr>5.2. Random Forests</vt:lpstr>
      <vt:lpstr>5.2. Random Forests</vt:lpstr>
      <vt:lpstr>5.3. LightGBM</vt:lpstr>
      <vt:lpstr>5.3. LightGBM</vt:lpstr>
      <vt:lpstr>5.3. LightGBM</vt:lpstr>
      <vt:lpstr>Application Overview</vt:lpstr>
      <vt:lpstr>Deployment</vt:lpstr>
      <vt:lpstr>1. Flask Deployment</vt:lpstr>
      <vt:lpstr>1. Flask Deployment</vt:lpstr>
      <vt:lpstr>2. Streamlit Deployment</vt:lpstr>
      <vt:lpstr>2. Streamlit Deployment</vt:lpstr>
      <vt:lpstr>2. Streamlit Deployment</vt:lpstr>
      <vt:lpstr>What did our team do: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</dc:creator>
  <cp:lastModifiedBy>NourEldin Mohamed</cp:lastModifiedBy>
  <cp:revision>16</cp:revision>
  <dcterms:created xsi:type="dcterms:W3CDTF">2024-03-14T10:03:00Z</dcterms:created>
  <dcterms:modified xsi:type="dcterms:W3CDTF">2025-12-08T12:14:10Z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42B807C3F23D42C0A9A0CF28731CC9C7_13</vt:lpwstr>
  </property>
  <property fmtid="{D5CDD505-2E9C-101B-9397-08002B2CF9AE}" pid="3" name="KSOProductBuildVer">
    <vt:lpwstr>1033-12.2.0.23155</vt:lpwstr>
  </property>
</Properties>
</file>