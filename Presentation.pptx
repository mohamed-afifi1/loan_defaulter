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59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AB7D"/>
    <a:srgbClr val="336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550E0-7B8E-4F85-8952-B3EEEC158BF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B661F-D38C-4304-A447-39529584D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7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B661F-D38C-4304-A447-39529584D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77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B661F-D38C-4304-A447-39529584DC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71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AD94-7808-989E-20AD-5CD353A34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721D7-ECB2-E9AA-A35F-394ABFFBE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BB187-490D-5D79-D958-AC4B6620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34325-AF98-5068-6FBD-D4DE88E6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63824-704A-9BC8-697C-8562826D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4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3BF6-39F1-1791-131E-072BD886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8309-8951-43C0-1C1A-507C2E957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7BCB2-A564-09B6-1A36-0454F925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F9B5D-AF81-D093-CD24-3658E4FC4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2FC9-38A9-6CBF-FAA2-0AC66E84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0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5D97-5B8A-D4D9-3059-A89D88668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B0D4F-36CF-62BA-BE39-B7E17B697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60251-3ACB-5DE9-8392-8B4F2C66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2A8F2-C360-B18B-C1DF-C49C6E01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639FF-60B8-9391-A9BE-3ABF7707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76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1402-D84E-3716-2ACE-1B067228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7980C-6F9E-A7BB-E603-79ADB4DDC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D87C5-5498-1C5F-CBDC-D12AAB3E7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C3DA7-ADEC-4F6A-840E-5F178080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90B3C-4B90-F140-583E-1F737824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66A67-D0DF-85DF-F6B9-31F62CF7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4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7F04-AC7C-981E-9C91-4F41EC46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7C49A-E251-C9DD-F7CF-88EF8ACC3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38FF5-CD98-F751-2045-C3F869653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01D1C-6170-836F-A7B2-D932CD042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68E6C-EA96-43D7-C88C-BDF3F1A39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59EAB-4333-2E5D-C30E-D9A48FD0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48EE3-BCAA-1388-D82C-59063851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8A6F9-D79F-2D79-245E-92AC4A861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51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E59F-FA33-6490-6033-629060C3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34BAD-59FF-80F3-3C43-9E78C2B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D3DCC-620C-A1D1-7A8E-43F8097B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B991C-B8CC-E2BF-5C53-CA093FE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4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6C41E-B5DE-671B-872D-33C4A449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1AFFA-D710-49D1-43B1-157BF738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91F2A-967C-C308-7A7F-3AC78ED9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3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7455-7AF8-6DA3-EFE4-079B079B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2923-1289-57D0-4EF1-0CF334AA3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08FDB-B72E-8914-D1BD-6368F4070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7B3B5-3EC6-7F42-F7CC-37C65171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7855F-1FE6-785D-4ADD-B73D4C16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BB452-F8FB-968D-045F-E1BEE9D4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3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7CA3-5736-CE5D-2F3C-455DD46C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00144-A620-F84B-45D2-00BD35A8A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91F6D-E4D0-8620-70F5-7D2FA150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B298E-FB3C-7D74-0234-35BE029D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6B24F-AB77-23C5-36EE-113814B3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F3699-1967-0055-9108-109B4F20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31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9A58E-AAF3-9A9F-2811-A73A6FF0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4E2BF-D5C7-7A05-6BBD-69846924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D4582-0B1B-0382-B7C7-585A00E1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0DA4B-A9D5-E5B2-46BF-0C9FC334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E21EA-2303-643F-DFB0-E496E361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3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2C605-1745-84C7-4EF8-26E49FC0B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15843-91D0-2028-787D-66089D18E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323AC-4A2B-C339-BD63-0B68DAB76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C9BC2-98FB-75A6-BA91-2AF47687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8A837-0F63-F216-FB2D-266879D6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2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AA07C-E23E-6E66-0C02-8EF3E218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380C1-7866-C953-C0E9-67C4511E4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4F1CE-C2C5-25F2-0D74-7553FE823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CA40E-3CDE-44BF-BCDD-3A1E30DF370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EDB-A4CA-A8D7-E696-F4908A73B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853D0-8D37-9147-22A5-7E8EF7225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730E3-EBD7-43FD-8A2E-6066F8417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1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455BB-FE9E-091C-EC6C-6DFC48339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1445"/>
            <a:ext cx="9144000" cy="89458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Loan Defaulter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09765A-0642-C4BD-2777-B422BC24791A}"/>
              </a:ext>
            </a:extLst>
          </p:cNvPr>
          <p:cNvSpPr txBox="1"/>
          <p:nvPr/>
        </p:nvSpPr>
        <p:spPr>
          <a:xfrm>
            <a:off x="1116219" y="3041851"/>
            <a:ext cx="6096000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Mohammed Yasser Ismael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A2D19B-FEEB-7FE5-A2A0-496B9DF087EE}"/>
              </a:ext>
            </a:extLst>
          </p:cNvPr>
          <p:cNvSpPr txBox="1"/>
          <p:nvPr/>
        </p:nvSpPr>
        <p:spPr>
          <a:xfrm>
            <a:off x="1116219" y="3595849"/>
            <a:ext cx="6096000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Noureldin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Mohamed Amin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AB625-E60F-D20A-0678-9390D48935AB}"/>
              </a:ext>
            </a:extLst>
          </p:cNvPr>
          <p:cNvSpPr txBox="1"/>
          <p:nvPr/>
        </p:nvSpPr>
        <p:spPr>
          <a:xfrm>
            <a:off x="1116219" y="2532538"/>
            <a:ext cx="6096000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Abdelrahman Hassan Shaaban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FC018-3419-530B-FC71-87BE71990553}"/>
              </a:ext>
            </a:extLst>
          </p:cNvPr>
          <p:cNvSpPr txBox="1"/>
          <p:nvPr/>
        </p:nvSpPr>
        <p:spPr>
          <a:xfrm>
            <a:off x="1116219" y="2027518"/>
            <a:ext cx="6096000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Mohamed Ayman Afifi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B1FB5-20AD-CAA2-EF97-AE27CA9EA934}"/>
              </a:ext>
            </a:extLst>
          </p:cNvPr>
          <p:cNvSpPr txBox="1"/>
          <p:nvPr/>
        </p:nvSpPr>
        <p:spPr>
          <a:xfrm>
            <a:off x="1116219" y="4149847"/>
            <a:ext cx="6096000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Mark Hany Adel</a:t>
            </a:r>
          </a:p>
        </p:txBody>
      </p:sp>
    </p:spTree>
    <p:extLst>
      <p:ext uri="{BB962C8B-B14F-4D97-AF65-F5344CB8AC3E}">
        <p14:creationId xmlns:p14="http://schemas.microsoft.com/office/powerpoint/2010/main" val="14012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92BC882-B810-F166-33AC-8B8DC97FC5A1}"/>
              </a:ext>
            </a:extLst>
          </p:cNvPr>
          <p:cNvSpPr txBox="1"/>
          <p:nvPr/>
        </p:nvSpPr>
        <p:spPr>
          <a:xfrm>
            <a:off x="530939" y="533245"/>
            <a:ext cx="462116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Description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00AEC8-ED27-FC26-9C7A-3B6C1E4FE7AE}"/>
              </a:ext>
            </a:extLst>
          </p:cNvPr>
          <p:cNvSpPr txBox="1"/>
          <p:nvPr/>
        </p:nvSpPr>
        <p:spPr>
          <a:xfrm>
            <a:off x="530939" y="1125323"/>
            <a:ext cx="10756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Financial institutions lose money when borrowers don’t repay their loans. Traditional evaluation methods are slow and often miss high-risk applicants, leading to more loan defaults and lower lending efficiency.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275C80-A374-0350-D172-3E420581B235}"/>
              </a:ext>
            </a:extLst>
          </p:cNvPr>
          <p:cNvSpPr txBox="1"/>
          <p:nvPr/>
        </p:nvSpPr>
        <p:spPr>
          <a:xfrm>
            <a:off x="530938" y="2117297"/>
            <a:ext cx="462116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8FB496-3732-6565-4B30-223CCAFE5BEC}"/>
              </a:ext>
            </a:extLst>
          </p:cNvPr>
          <p:cNvSpPr txBox="1"/>
          <p:nvPr/>
        </p:nvSpPr>
        <p:spPr>
          <a:xfrm>
            <a:off x="530938" y="2782669"/>
            <a:ext cx="10628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machine-learning model that analyzes customer financial data to predict high-risk borrowers, providing real-time risk scores for faster and more accurate loan decisions.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32517C-8A1D-02EC-DB1A-6B26BFF70ABE}"/>
              </a:ext>
            </a:extLst>
          </p:cNvPr>
          <p:cNvSpPr txBox="1"/>
          <p:nvPr/>
        </p:nvSpPr>
        <p:spPr>
          <a:xfrm>
            <a:off x="530937" y="3815047"/>
            <a:ext cx="462116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Unique Value Proposition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C78B2E-E2B4-B600-3F84-622D9E6934D9}"/>
              </a:ext>
            </a:extLst>
          </p:cNvPr>
          <p:cNvSpPr txBox="1"/>
          <p:nvPr/>
        </p:nvSpPr>
        <p:spPr>
          <a:xfrm>
            <a:off x="530939" y="4826809"/>
            <a:ext cx="462115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prediction accuracy using advanced ML algorithms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E411AA-C901-3D2A-33A5-4D1CF07A0582}"/>
              </a:ext>
            </a:extLst>
          </p:cNvPr>
          <p:cNvSpPr txBox="1"/>
          <p:nvPr/>
        </p:nvSpPr>
        <p:spPr>
          <a:xfrm>
            <a:off x="530939" y="5732677"/>
            <a:ext cx="462115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Faster and more data-driven loan decision-making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8CA9B3-38B8-E4A9-ABCB-F2E9B7D6B85C}"/>
              </a:ext>
            </a:extLst>
          </p:cNvPr>
          <p:cNvSpPr txBox="1"/>
          <p:nvPr/>
        </p:nvSpPr>
        <p:spPr>
          <a:xfrm>
            <a:off x="6371303" y="5732677"/>
            <a:ext cx="462115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Explainable AI gives transparency behind each prediction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224B4-5D51-5DBA-804D-35C3C81A826F}"/>
              </a:ext>
            </a:extLst>
          </p:cNvPr>
          <p:cNvSpPr txBox="1"/>
          <p:nvPr/>
        </p:nvSpPr>
        <p:spPr>
          <a:xfrm>
            <a:off x="6371304" y="4851139"/>
            <a:ext cx="462115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integration into banking workflows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3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7788BE-1D07-9071-57D5-886D9687869D}"/>
              </a:ext>
            </a:extLst>
          </p:cNvPr>
          <p:cNvSpPr txBox="1"/>
          <p:nvPr/>
        </p:nvSpPr>
        <p:spPr>
          <a:xfrm>
            <a:off x="644271" y="716747"/>
            <a:ext cx="3421626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Primary Stakeholders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CA40E-C5CD-34E3-1DE5-AFEE354432FA}"/>
              </a:ext>
            </a:extLst>
          </p:cNvPr>
          <p:cNvSpPr txBox="1"/>
          <p:nvPr/>
        </p:nvSpPr>
        <p:spPr>
          <a:xfrm>
            <a:off x="644271" y="1496650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Banks &amp; Financial Institutions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34F105-70BA-83FA-9FAC-57E1ECD83577}"/>
              </a:ext>
            </a:extLst>
          </p:cNvPr>
          <p:cNvSpPr txBox="1"/>
          <p:nvPr/>
        </p:nvSpPr>
        <p:spPr>
          <a:xfrm>
            <a:off x="644271" y="2165244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Loan Officers / Credit Analysts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1F1FA7-F8E3-6A72-22F3-2C3E4748B8A7}"/>
              </a:ext>
            </a:extLst>
          </p:cNvPr>
          <p:cNvSpPr txBox="1"/>
          <p:nvPr/>
        </p:nvSpPr>
        <p:spPr>
          <a:xfrm>
            <a:off x="644271" y="2833838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Risk Management Teams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FBBFA-34FB-FC0A-9968-7017C3738D66}"/>
              </a:ext>
            </a:extLst>
          </p:cNvPr>
          <p:cNvSpPr txBox="1"/>
          <p:nvPr/>
        </p:nvSpPr>
        <p:spPr>
          <a:xfrm>
            <a:off x="7521678" y="694935"/>
            <a:ext cx="3421626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E1140-196D-14E6-1A70-0580D3C62137}"/>
              </a:ext>
            </a:extLst>
          </p:cNvPr>
          <p:cNvSpPr txBox="1"/>
          <p:nvPr/>
        </p:nvSpPr>
        <p:spPr>
          <a:xfrm>
            <a:off x="7521678" y="1453026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Loan default prediction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618BC2-EDE3-DE2E-3A4B-A35364B6454C}"/>
              </a:ext>
            </a:extLst>
          </p:cNvPr>
          <p:cNvSpPr txBox="1"/>
          <p:nvPr/>
        </p:nvSpPr>
        <p:spPr>
          <a:xfrm>
            <a:off x="7487523" y="2143432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Loan Officers / Credit Analysts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31DDA5-2506-5FD0-2B05-B66C57E4E36C}"/>
              </a:ext>
            </a:extLst>
          </p:cNvPr>
          <p:cNvSpPr txBox="1"/>
          <p:nvPr/>
        </p:nvSpPr>
        <p:spPr>
          <a:xfrm>
            <a:off x="7487523" y="2833838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Data-driven decision support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EA52A-4006-1CD2-52DF-334C258F9987}"/>
              </a:ext>
            </a:extLst>
          </p:cNvPr>
          <p:cNvSpPr txBox="1"/>
          <p:nvPr/>
        </p:nvSpPr>
        <p:spPr>
          <a:xfrm>
            <a:off x="4065897" y="3470165"/>
            <a:ext cx="3421626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It Helps Each User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690A5C-BE28-F864-5DC6-36A29BF5D0A0}"/>
              </a:ext>
            </a:extLst>
          </p:cNvPr>
          <p:cNvSpPr txBox="1"/>
          <p:nvPr/>
        </p:nvSpPr>
        <p:spPr>
          <a:xfrm>
            <a:off x="2182761" y="4250068"/>
            <a:ext cx="7551173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Banks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Reduce financial losses by detecting high-risk borrowers early.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BA4ADE-A4D6-B274-0524-DD3D36F62646}"/>
              </a:ext>
            </a:extLst>
          </p:cNvPr>
          <p:cNvSpPr txBox="1"/>
          <p:nvPr/>
        </p:nvSpPr>
        <p:spPr>
          <a:xfrm>
            <a:off x="2182761" y="4918662"/>
            <a:ext cx="7551173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Officers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Faster and more accurate approval decisions.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23E62B-C94D-A7C5-114F-D58DE6E913A2}"/>
              </a:ext>
            </a:extLst>
          </p:cNvPr>
          <p:cNvSpPr txBox="1"/>
          <p:nvPr/>
        </p:nvSpPr>
        <p:spPr>
          <a:xfrm>
            <a:off x="2182761" y="5587256"/>
            <a:ext cx="7551173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FinTech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Companies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Integrate ML scoring to improve lending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247388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286C-85CC-F7D2-110E-2DB83DB2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82E36F26-1318-6D5E-8041-29C8DD5D93AC}"/>
              </a:ext>
            </a:extLst>
          </p:cNvPr>
          <p:cNvSpPr txBox="1"/>
          <p:nvPr/>
        </p:nvSpPr>
        <p:spPr>
          <a:xfrm>
            <a:off x="530938" y="456827"/>
            <a:ext cx="462116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Database Architecture: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35917B-E612-9702-0A23-70A6907E0BA1}"/>
              </a:ext>
            </a:extLst>
          </p:cNvPr>
          <p:cNvSpPr txBox="1"/>
          <p:nvPr/>
        </p:nvSpPr>
        <p:spPr>
          <a:xfrm>
            <a:off x="530938" y="1265040"/>
            <a:ext cx="9910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a CSV dataset from Kaggle stored in a tabular format. Works like a simple relational structure without a full database system.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46290E-B20C-5D23-C87C-6C5CC8BE8980}"/>
              </a:ext>
            </a:extLst>
          </p:cNvPr>
          <p:cNvSpPr txBox="1"/>
          <p:nvPr/>
        </p:nvSpPr>
        <p:spPr>
          <a:xfrm>
            <a:off x="530936" y="2314627"/>
            <a:ext cx="462116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 Entities &amp; Relationships: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44C9CB-4E41-E534-47D4-6D70107B53C8}"/>
              </a:ext>
            </a:extLst>
          </p:cNvPr>
          <p:cNvSpPr txBox="1"/>
          <p:nvPr/>
        </p:nvSpPr>
        <p:spPr>
          <a:xfrm>
            <a:off x="530937" y="3048276"/>
            <a:ext cx="99797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Includes customer info (age, income, job status), loan details (amount, interest), credit factors (score, past defaults), and the target: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loan_status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features relate to predicting whether a customer will default.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A4E5DD-E329-895E-D116-FC58CEE988AA}"/>
              </a:ext>
            </a:extLst>
          </p:cNvPr>
          <p:cNvSpPr txBox="1"/>
          <p:nvPr/>
        </p:nvSpPr>
        <p:spPr>
          <a:xfrm>
            <a:off x="530936" y="4201548"/>
            <a:ext cx="462116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Flow: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A0E59-40AC-5A16-519A-5F0A33AD5FF4}"/>
              </a:ext>
            </a:extLst>
          </p:cNvPr>
          <p:cNvSpPr txBox="1"/>
          <p:nvPr/>
        </p:nvSpPr>
        <p:spPr>
          <a:xfrm>
            <a:off x="530936" y="5108511"/>
            <a:ext cx="97732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CSV → Loaded into Pandas → Cleaned (missing values, encoding, scaling) → Data examined for balance (dataset is imbalanced) → Processed data → ML model → Default/Non-default prediction.</a:t>
            </a:r>
          </a:p>
        </p:txBody>
      </p:sp>
    </p:spTree>
    <p:extLst>
      <p:ext uri="{BB962C8B-B14F-4D97-AF65-F5344CB8AC3E}">
        <p14:creationId xmlns:p14="http://schemas.microsoft.com/office/powerpoint/2010/main" val="251893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B7D814-82AC-E385-19A5-87C2597E4165}"/>
              </a:ext>
            </a:extLst>
          </p:cNvPr>
          <p:cNvSpPr txBox="1"/>
          <p:nvPr/>
        </p:nvSpPr>
        <p:spPr>
          <a:xfrm>
            <a:off x="644271" y="716747"/>
            <a:ext cx="3421626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Programming Languages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A08B7-B658-2B30-6BD7-786BCFC2C48E}"/>
              </a:ext>
            </a:extLst>
          </p:cNvPr>
          <p:cNvSpPr txBox="1"/>
          <p:nvPr/>
        </p:nvSpPr>
        <p:spPr>
          <a:xfrm>
            <a:off x="644271" y="1442276"/>
            <a:ext cx="3421626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Python (main language for data analysis &amp; ML)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1E735-BFDF-90FB-EA30-AF934E76B68B}"/>
              </a:ext>
            </a:extLst>
          </p:cNvPr>
          <p:cNvSpPr txBox="1"/>
          <p:nvPr/>
        </p:nvSpPr>
        <p:spPr>
          <a:xfrm>
            <a:off x="5912033" y="716747"/>
            <a:ext cx="5815522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Frameworks / Tools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1305B-24D9-EC91-1B4C-9FC07EB0D038}"/>
              </a:ext>
            </a:extLst>
          </p:cNvPr>
          <p:cNvSpPr txBox="1"/>
          <p:nvPr/>
        </p:nvSpPr>
        <p:spPr>
          <a:xfrm>
            <a:off x="5912028" y="3429000"/>
            <a:ext cx="5815523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Google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Notebook – development environment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A2618-8775-C353-F43E-786772DA2AC2}"/>
              </a:ext>
            </a:extLst>
          </p:cNvPr>
          <p:cNvSpPr txBox="1"/>
          <p:nvPr/>
        </p:nvSpPr>
        <p:spPr>
          <a:xfrm>
            <a:off x="674026" y="3432080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Kaggle – dataset 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27D5-F557-39EB-A1C5-DAF301CAF356}"/>
              </a:ext>
            </a:extLst>
          </p:cNvPr>
          <p:cNvSpPr txBox="1"/>
          <p:nvPr/>
        </p:nvSpPr>
        <p:spPr>
          <a:xfrm>
            <a:off x="5912027" y="2776766"/>
            <a:ext cx="5815524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Scikit-learn,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CatBoost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machine learning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1521AC-4E59-3962-E710-E553A1C4A69B}"/>
              </a:ext>
            </a:extLst>
          </p:cNvPr>
          <p:cNvSpPr txBox="1"/>
          <p:nvPr/>
        </p:nvSpPr>
        <p:spPr>
          <a:xfrm>
            <a:off x="5912028" y="1444304"/>
            <a:ext cx="5815523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Pandas,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NumPy – data handling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9A085F-3EAF-04B6-504D-4890C5281E4F}"/>
              </a:ext>
            </a:extLst>
          </p:cNvPr>
          <p:cNvSpPr txBox="1"/>
          <p:nvPr/>
        </p:nvSpPr>
        <p:spPr>
          <a:xfrm>
            <a:off x="5912027" y="2110535"/>
            <a:ext cx="5815524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Matplotlib,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Seaborn – visualization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9FA108-16EC-030B-5C37-3914C89D88B6}"/>
              </a:ext>
            </a:extLst>
          </p:cNvPr>
          <p:cNvSpPr txBox="1"/>
          <p:nvPr/>
        </p:nvSpPr>
        <p:spPr>
          <a:xfrm>
            <a:off x="674026" y="2754256"/>
            <a:ext cx="3421626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Supporting Technologies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4F33C3-D1DE-9686-8B74-0DB30EC373EB}"/>
              </a:ext>
            </a:extLst>
          </p:cNvPr>
          <p:cNvSpPr txBox="1"/>
          <p:nvPr/>
        </p:nvSpPr>
        <p:spPr>
          <a:xfrm>
            <a:off x="674026" y="4109904"/>
            <a:ext cx="3421626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source code hosting</a:t>
            </a:r>
          </a:p>
        </p:txBody>
      </p:sp>
    </p:spTree>
    <p:extLst>
      <p:ext uri="{BB962C8B-B14F-4D97-AF65-F5344CB8AC3E}">
        <p14:creationId xmlns:p14="http://schemas.microsoft.com/office/powerpoint/2010/main" val="220369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2189D-5C2E-C6B9-9A26-A73334D76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70346"/>
            <a:ext cx="5242560" cy="27106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E2453C-2046-23D0-1E91-BEFE3435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80" y="3284362"/>
            <a:ext cx="6360160" cy="281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3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3D52FE-D8CA-C8B2-DDF4-77181022BDE2}"/>
              </a:ext>
            </a:extLst>
          </p:cNvPr>
          <p:cNvSpPr txBox="1"/>
          <p:nvPr/>
        </p:nvSpPr>
        <p:spPr>
          <a:xfrm>
            <a:off x="757082" y="731634"/>
            <a:ext cx="4178709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Reports &amp; Documentation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C25F6-FF3F-908A-9B67-22DB2C3A7730}"/>
              </a:ext>
            </a:extLst>
          </p:cNvPr>
          <p:cNvSpPr txBox="1"/>
          <p:nvPr/>
        </p:nvSpPr>
        <p:spPr>
          <a:xfrm>
            <a:off x="757082" y="1378664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Technical report (data cleaning, preprocessing, modeling)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49FD01-BBDE-3C63-6A32-7E887594A30A}"/>
              </a:ext>
            </a:extLst>
          </p:cNvPr>
          <p:cNvSpPr txBox="1"/>
          <p:nvPr/>
        </p:nvSpPr>
        <p:spPr>
          <a:xfrm>
            <a:off x="757082" y="2302693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 documentation (algorithms, metrics, decisions)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C912FB-34F7-8703-DE9C-20846D6AB3D3}"/>
              </a:ext>
            </a:extLst>
          </p:cNvPr>
          <p:cNvSpPr txBox="1"/>
          <p:nvPr/>
        </p:nvSpPr>
        <p:spPr>
          <a:xfrm>
            <a:off x="757082" y="3226722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manual / how-to-run guide</a:t>
            </a:r>
          </a:p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EE4CB-4449-DB9E-5B19-A356F85AADBF}"/>
              </a:ext>
            </a:extLst>
          </p:cNvPr>
          <p:cNvSpPr txBox="1"/>
          <p:nvPr/>
        </p:nvSpPr>
        <p:spPr>
          <a:xfrm>
            <a:off x="6700682" y="731634"/>
            <a:ext cx="4178709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Timeline &amp; Milestones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1E9705-5924-51A8-8C27-311FDBEC4351}"/>
              </a:ext>
            </a:extLst>
          </p:cNvPr>
          <p:cNvSpPr txBox="1"/>
          <p:nvPr/>
        </p:nvSpPr>
        <p:spPr>
          <a:xfrm>
            <a:off x="6700677" y="1509282"/>
            <a:ext cx="4178707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Milestone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1: Problem formulation &amp; notebook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FA1849-5345-69DB-09DD-EDB41486429F}"/>
              </a:ext>
            </a:extLst>
          </p:cNvPr>
          <p:cNvSpPr txBox="1"/>
          <p:nvPr/>
        </p:nvSpPr>
        <p:spPr>
          <a:xfrm>
            <a:off x="6700675" y="2469906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Milestone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2: Data cleaning + summary report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54FC7A-6157-AE20-7391-490996D70CB8}"/>
              </a:ext>
            </a:extLst>
          </p:cNvPr>
          <p:cNvSpPr txBox="1"/>
          <p:nvPr/>
        </p:nvSpPr>
        <p:spPr>
          <a:xfrm>
            <a:off x="6700676" y="3430530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Milestone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3: Data visualization</a:t>
            </a:r>
          </a:p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69E6F7-C1A6-1D23-EE06-52BA68F07BC4}"/>
              </a:ext>
            </a:extLst>
          </p:cNvPr>
          <p:cNvSpPr txBox="1"/>
          <p:nvPr/>
        </p:nvSpPr>
        <p:spPr>
          <a:xfrm>
            <a:off x="6700677" y="4391154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Milestone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4: Data preprocessing</a:t>
            </a:r>
          </a:p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A02AFE-B34F-FAC4-9655-A8168EE55279}"/>
              </a:ext>
            </a:extLst>
          </p:cNvPr>
          <p:cNvSpPr txBox="1"/>
          <p:nvPr/>
        </p:nvSpPr>
        <p:spPr>
          <a:xfrm>
            <a:off x="6700678" y="5351778"/>
            <a:ext cx="4178709" cy="646331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Milestone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5: ML modeling + final model (LightGBM_V2.pkl)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4057F1-26E5-02B9-3489-1BAD15CB8035}"/>
              </a:ext>
            </a:extLst>
          </p:cNvPr>
          <p:cNvSpPr txBox="1"/>
          <p:nvPr/>
        </p:nvSpPr>
        <p:spPr>
          <a:xfrm>
            <a:off x="757080" y="4289599"/>
            <a:ext cx="4178709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Products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52C8F-D949-1D13-50A8-E8CCEE0E296F}"/>
              </a:ext>
            </a:extLst>
          </p:cNvPr>
          <p:cNvSpPr txBox="1"/>
          <p:nvPr/>
        </p:nvSpPr>
        <p:spPr>
          <a:xfrm>
            <a:off x="757080" y="4982446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Trained ML models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2DB66F-1E6F-00FC-2784-CFE06421AF52}"/>
              </a:ext>
            </a:extLst>
          </p:cNvPr>
          <p:cNvSpPr txBox="1"/>
          <p:nvPr/>
        </p:nvSpPr>
        <p:spPr>
          <a:xfrm>
            <a:off x="757080" y="5630174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Cleaned dataset + full code repository</a:t>
            </a:r>
          </a:p>
        </p:txBody>
      </p:sp>
    </p:spTree>
    <p:extLst>
      <p:ext uri="{BB962C8B-B14F-4D97-AF65-F5344CB8AC3E}">
        <p14:creationId xmlns:p14="http://schemas.microsoft.com/office/powerpoint/2010/main" val="295326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BE8E1F-9540-07E5-F5F2-7AA2D4543612}"/>
              </a:ext>
            </a:extLst>
          </p:cNvPr>
          <p:cNvSpPr txBox="1"/>
          <p:nvPr/>
        </p:nvSpPr>
        <p:spPr>
          <a:xfrm>
            <a:off x="462110" y="696703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effectLst/>
              </a:rPr>
              <a:t> 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Mohammed Yasser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341D6-C5C4-E24D-968C-8897F99A125D}"/>
              </a:ext>
            </a:extLst>
          </p:cNvPr>
          <p:cNvSpPr txBox="1"/>
          <p:nvPr/>
        </p:nvSpPr>
        <p:spPr>
          <a:xfrm>
            <a:off x="5029198" y="696703"/>
            <a:ext cx="1794380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A2FA7E-91C0-7901-AC1F-F20DCC3D5C48}"/>
              </a:ext>
            </a:extLst>
          </p:cNvPr>
          <p:cNvSpPr txBox="1"/>
          <p:nvPr/>
        </p:nvSpPr>
        <p:spPr>
          <a:xfrm>
            <a:off x="7170158" y="568674"/>
            <a:ext cx="1887795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Handling inconsistencies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10D7EF-915D-3B3A-A260-B1E908CB4D2C}"/>
              </a:ext>
            </a:extLst>
          </p:cNvPr>
          <p:cNvSpPr txBox="1"/>
          <p:nvPr/>
        </p:nvSpPr>
        <p:spPr>
          <a:xfrm>
            <a:off x="9352917" y="579841"/>
            <a:ext cx="2187673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9FE2A-C6D7-53A8-8A80-1DF4F456170F}"/>
              </a:ext>
            </a:extLst>
          </p:cNvPr>
          <p:cNvSpPr txBox="1"/>
          <p:nvPr/>
        </p:nvSpPr>
        <p:spPr>
          <a:xfrm>
            <a:off x="462111" y="3108633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Abdelrahman  Hassan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79C7F-D50E-279D-B2B4-4FCB77A06ACA}"/>
              </a:ext>
            </a:extLst>
          </p:cNvPr>
          <p:cNvSpPr txBox="1"/>
          <p:nvPr/>
        </p:nvSpPr>
        <p:spPr>
          <a:xfrm>
            <a:off x="10150586" y="3000126"/>
            <a:ext cx="1725562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Early-phase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B9492-BF40-CB08-E758-C330DA0FFEBE}"/>
              </a:ext>
            </a:extLst>
          </p:cNvPr>
          <p:cNvSpPr txBox="1"/>
          <p:nvPr/>
        </p:nvSpPr>
        <p:spPr>
          <a:xfrm>
            <a:off x="7543801" y="2995720"/>
            <a:ext cx="2433484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&amp; deployment setup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A75B7C-DCD8-E5AC-0E71-18AF922BA4A5}"/>
              </a:ext>
            </a:extLst>
          </p:cNvPr>
          <p:cNvSpPr txBox="1"/>
          <p:nvPr/>
        </p:nvSpPr>
        <p:spPr>
          <a:xfrm>
            <a:off x="4944394" y="3108633"/>
            <a:ext cx="2303211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summarization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5C2E6D-8B0E-6E71-5D6D-58B0331AF20D}"/>
              </a:ext>
            </a:extLst>
          </p:cNvPr>
          <p:cNvSpPr txBox="1"/>
          <p:nvPr/>
        </p:nvSpPr>
        <p:spPr>
          <a:xfrm>
            <a:off x="462112" y="1884438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Mohamed Ayman Afifi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5DC3EB-09FB-1360-9DCE-571E23C08D1B}"/>
              </a:ext>
            </a:extLst>
          </p:cNvPr>
          <p:cNvSpPr txBox="1"/>
          <p:nvPr/>
        </p:nvSpPr>
        <p:spPr>
          <a:xfrm>
            <a:off x="462110" y="4259909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 Hany Adel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1D1730-11B5-25A8-3AD0-759A86417AE8}"/>
              </a:ext>
            </a:extLst>
          </p:cNvPr>
          <p:cNvSpPr txBox="1"/>
          <p:nvPr/>
        </p:nvSpPr>
        <p:spPr>
          <a:xfrm>
            <a:off x="9399631" y="1775393"/>
            <a:ext cx="1991036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1F8BFD-3F0C-0B4F-05C6-FAD001500751}"/>
              </a:ext>
            </a:extLst>
          </p:cNvPr>
          <p:cNvSpPr txBox="1"/>
          <p:nvPr/>
        </p:nvSpPr>
        <p:spPr>
          <a:xfrm>
            <a:off x="5041486" y="1792105"/>
            <a:ext cx="1794380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Wrote dataset description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60E9A0-EC41-DD2B-9926-3B0F78C345BB}"/>
              </a:ext>
            </a:extLst>
          </p:cNvPr>
          <p:cNvSpPr txBox="1"/>
          <p:nvPr/>
        </p:nvSpPr>
        <p:spPr>
          <a:xfrm>
            <a:off x="7211958" y="1775393"/>
            <a:ext cx="1991036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the Random Forest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E3310C-9914-CC47-7BA8-D15143BEF270}"/>
              </a:ext>
            </a:extLst>
          </p:cNvPr>
          <p:cNvSpPr txBox="1"/>
          <p:nvPr/>
        </p:nvSpPr>
        <p:spPr>
          <a:xfrm>
            <a:off x="7136996" y="4202439"/>
            <a:ext cx="2140959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CatBoost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90EB5A-9298-E728-A8CD-229CB2A5E297}"/>
              </a:ext>
            </a:extLst>
          </p:cNvPr>
          <p:cNvSpPr txBox="1"/>
          <p:nvPr/>
        </p:nvSpPr>
        <p:spPr>
          <a:xfrm>
            <a:off x="5041486" y="4063940"/>
            <a:ext cx="1725559" cy="923330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and formatted the presentation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E7CB9C-6CB5-8A42-7366-DF83CC75F04D}"/>
              </a:ext>
            </a:extLst>
          </p:cNvPr>
          <p:cNvSpPr txBox="1"/>
          <p:nvPr/>
        </p:nvSpPr>
        <p:spPr>
          <a:xfrm>
            <a:off x="9511478" y="4202439"/>
            <a:ext cx="2542871" cy="646331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EDA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Perivous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dataset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7CDFA-7FF0-2E5A-6B04-6D532496CAD0}"/>
              </a:ext>
            </a:extLst>
          </p:cNvPr>
          <p:cNvSpPr txBox="1"/>
          <p:nvPr/>
        </p:nvSpPr>
        <p:spPr>
          <a:xfrm>
            <a:off x="462110" y="5411185"/>
            <a:ext cx="4178709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Noureldin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Mohamed Amin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DF3C6-7D96-994C-5C4E-39EC05F469DF}"/>
              </a:ext>
            </a:extLst>
          </p:cNvPr>
          <p:cNvSpPr txBox="1"/>
          <p:nvPr/>
        </p:nvSpPr>
        <p:spPr>
          <a:xfrm>
            <a:off x="4944394" y="5388578"/>
            <a:ext cx="2765326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Handled data outliers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924C0-1CA8-A53F-3B1A-DF199FFD7105}"/>
              </a:ext>
            </a:extLst>
          </p:cNvPr>
          <p:cNvSpPr txBox="1"/>
          <p:nvPr/>
        </p:nvSpPr>
        <p:spPr>
          <a:xfrm>
            <a:off x="8253872" y="5388578"/>
            <a:ext cx="3446825" cy="369332"/>
          </a:xfrm>
          <a:prstGeom prst="rect">
            <a:avLst/>
          </a:prstGeom>
          <a:solidFill>
            <a:srgbClr val="336EA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Created documentation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62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DFFD-53E4-A25C-8E61-2A6DBE3D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-113247"/>
            <a:ext cx="10478729" cy="1483340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2108D-9051-ECC4-999D-A47B5F5DAC62}"/>
              </a:ext>
            </a:extLst>
          </p:cNvPr>
          <p:cNvSpPr txBox="1"/>
          <p:nvPr/>
        </p:nvSpPr>
        <p:spPr>
          <a:xfrm>
            <a:off x="3549442" y="5952101"/>
            <a:ext cx="4522840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Questions or suggestions are appreciated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144388-24F7-9F18-533F-0939E555758C}"/>
              </a:ext>
            </a:extLst>
          </p:cNvPr>
          <p:cNvSpPr txBox="1"/>
          <p:nvPr/>
        </p:nvSpPr>
        <p:spPr>
          <a:xfrm>
            <a:off x="2399071" y="2377962"/>
            <a:ext cx="6823585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Mohammed Yasser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— mohammedyasserismael@gmail.com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1BB4A-33A9-39CB-8C27-D050AD55B208}"/>
              </a:ext>
            </a:extLst>
          </p:cNvPr>
          <p:cNvSpPr txBox="1"/>
          <p:nvPr/>
        </p:nvSpPr>
        <p:spPr>
          <a:xfrm>
            <a:off x="2399070" y="3045224"/>
            <a:ext cx="6823585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Noureldin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Mohamed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— noureldinne7@gmail.com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BC42E4-96E1-BBF1-B9A2-C7C81B85C31E}"/>
              </a:ext>
            </a:extLst>
          </p:cNvPr>
          <p:cNvSpPr txBox="1"/>
          <p:nvPr/>
        </p:nvSpPr>
        <p:spPr>
          <a:xfrm>
            <a:off x="2399070" y="3712486"/>
            <a:ext cx="6823588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Abdelrahman Hassan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— abdelrahmanalshamy2003@gmail.com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3BD0E-395B-5C4E-B80D-F97174869709}"/>
              </a:ext>
            </a:extLst>
          </p:cNvPr>
          <p:cNvSpPr txBox="1"/>
          <p:nvPr/>
        </p:nvSpPr>
        <p:spPr>
          <a:xfrm>
            <a:off x="2399070" y="4342665"/>
            <a:ext cx="6823587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Mohamed Ayman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— Mohammed2004koki@gmail.com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5CAEAD-D0E9-537E-ACFB-C51AB321856C}"/>
              </a:ext>
            </a:extLst>
          </p:cNvPr>
          <p:cNvSpPr txBox="1"/>
          <p:nvPr/>
        </p:nvSpPr>
        <p:spPr>
          <a:xfrm>
            <a:off x="2399072" y="1753215"/>
            <a:ext cx="6823584" cy="369332"/>
          </a:xfrm>
          <a:prstGeom prst="rect">
            <a:avLst/>
          </a:prstGeom>
          <a:solidFill>
            <a:srgbClr val="0FAB7D"/>
          </a:solidFill>
        </p:spPr>
        <p:txBody>
          <a:bodyPr wrap="square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Mark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Hany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— markhanyadel05@gmail.com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02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531</Words>
  <Application>Microsoft Office PowerPoint</Application>
  <PresentationFormat>Widescreen</PresentationFormat>
  <Paragraphs>84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Loan Defaulter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Hany</dc:creator>
  <cp:lastModifiedBy>Mark Hany</cp:lastModifiedBy>
  <cp:revision>9</cp:revision>
  <dcterms:created xsi:type="dcterms:W3CDTF">2025-11-30T05:23:56Z</dcterms:created>
  <dcterms:modified xsi:type="dcterms:W3CDTF">2025-11-30T18:58:19Z</dcterms:modified>
</cp:coreProperties>
</file>